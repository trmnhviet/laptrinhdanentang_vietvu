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1"/>
  </p:notesMasterIdLst>
  <p:sldIdLst>
    <p:sldId id="256" r:id="rId5"/>
    <p:sldId id="257" r:id="rId6"/>
    <p:sldId id="258" r:id="rId7"/>
    <p:sldId id="286" r:id="rId8"/>
    <p:sldId id="259" r:id="rId9"/>
    <p:sldId id="268" r:id="rId10"/>
    <p:sldId id="290" r:id="rId11"/>
    <p:sldId id="291" r:id="rId12"/>
    <p:sldId id="287" r:id="rId13"/>
    <p:sldId id="292" r:id="rId14"/>
    <p:sldId id="293" r:id="rId15"/>
    <p:sldId id="288" r:id="rId16"/>
    <p:sldId id="294" r:id="rId17"/>
    <p:sldId id="295" r:id="rId18"/>
    <p:sldId id="296" r:id="rId19"/>
    <p:sldId id="289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304" r:id="rId28"/>
    <p:sldId id="260" r:id="rId29"/>
    <p:sldId id="27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996E08-6D99-7B79-DE8C-D9B8B3B5E5F6}" v="3" dt="2025-10-20T06:23:31.3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ê Xuân Nam" userId="S::106220226@sv1.dut.udn.vn::8784bee4-480d-4412-910c-893e04af5d12" providerId="AD" clId="Web-{92996E08-6D99-7B79-DE8C-D9B8B3B5E5F6}"/>
    <pc:docChg chg="modSld">
      <pc:chgData name="Lê Xuân Nam" userId="S::106220226@sv1.dut.udn.vn::8784bee4-480d-4412-910c-893e04af5d12" providerId="AD" clId="Web-{92996E08-6D99-7B79-DE8C-D9B8B3B5E5F6}" dt="2025-10-20T06:23:31.381" v="2" actId="20577"/>
      <pc:docMkLst>
        <pc:docMk/>
      </pc:docMkLst>
      <pc:sldChg chg="modSp">
        <pc:chgData name="Lê Xuân Nam" userId="S::106220226@sv1.dut.udn.vn::8784bee4-480d-4412-910c-893e04af5d12" providerId="AD" clId="Web-{92996E08-6D99-7B79-DE8C-D9B8B3B5E5F6}" dt="2025-10-20T06:23:31.381" v="2" actId="20577"/>
        <pc:sldMkLst>
          <pc:docMk/>
          <pc:sldMk cId="2808251279" sldId="256"/>
        </pc:sldMkLst>
        <pc:spChg chg="mod">
          <ac:chgData name="Lê Xuân Nam" userId="S::106220226@sv1.dut.udn.vn::8784bee4-480d-4412-910c-893e04af5d12" providerId="AD" clId="Web-{92996E08-6D99-7B79-DE8C-D9B8B3B5E5F6}" dt="2025-10-20T06:23:31.381" v="2" actId="20577"/>
          <ac:spMkLst>
            <pc:docMk/>
            <pc:sldMk cId="2808251279" sldId="256"/>
            <ac:spMk id="4" creationId="{77BC51A4-5B59-8A33-71E9-028C13C8ACA9}"/>
          </ac:spMkLst>
        </pc:spChg>
        <pc:spChg chg="mod">
          <ac:chgData name="Lê Xuân Nam" userId="S::106220226@sv1.dut.udn.vn::8784bee4-480d-4412-910c-893e04af5d12" providerId="AD" clId="Web-{92996E08-6D99-7B79-DE8C-D9B8B3B5E5F6}" dt="2025-10-20T06:22:08.316" v="0" actId="1076"/>
          <ac:spMkLst>
            <pc:docMk/>
            <pc:sldMk cId="2808251279" sldId="256"/>
            <ac:spMk id="6" creationId="{DB66A4CF-53EE-DE34-3FAB-9024EB0BF4C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E533FE-EDCC-4C40-9859-AA7B201F6B61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21EB5D-07D7-429D-B472-D6E6567DB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22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F7DED-0943-2F4E-2671-2DB130362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016A2D-1B0A-CE37-3608-35CF9ED3D2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1A168-A285-F311-DBD4-D212B001F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3A97E-4798-305A-067E-9F6E54DDC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88654-852F-6A51-FBFE-5531B106F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756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502D7-1ABB-43F4-7E9B-153A75482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04040-B668-7366-8C3D-3007DC2AA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5977E-F0F4-86F8-0B7F-C30A1A8F0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91EE6-9841-9DC7-039C-5B84BBC28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3540C-BB99-1C27-4443-5F36BDE07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479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AD60E-8FD2-E923-9695-61D67E76F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3F5F6D-350B-8206-B6C4-1B488FD6C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A1DA4-ECD9-1E67-4591-6E1834720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4F473-228C-2DD1-1C69-092F21AC9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7CE7C-3F6A-2F9C-885B-E6B964952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818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1B619-62D8-602E-A370-E4F43394E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4FD9A-8612-1037-ABE3-1FD22674E0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30D6EA-B271-B3B4-EC8C-188D2896A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AB33EB-DA20-2D30-5F89-621889DEE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0D028-07B1-DF58-22FA-224C3C182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F1817D-3F84-BB14-8316-9AC7F7204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873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DB631-572B-CCCE-016F-167F0F237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9AE52-D13D-5BF7-97B4-5F8AFFDE2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EFD8E6-9165-16E3-BDFC-4134D97C0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2D8AFD-B401-9365-F94F-E63963D1A2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9E8418-F2EC-3EFC-68AD-9496BB132C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939ED8-DCA9-4019-C3FA-9CD415CAA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7D58CA-9565-5936-8752-57658AAC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0C4A19-E41C-7596-22B7-6FB55D272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89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FFD7A-784F-60A1-4509-F6BACE8BF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5A1ED5-8D43-E627-EC34-094ECA108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0F0ECB-BEF1-66AD-D346-EEA53DFDB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08420F-226D-F5A9-9BE3-87FDDBEE5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963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F031C0-5349-5F05-638E-28ED50B81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A0BC3E-8E1E-7DDD-85D6-3A0479562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43A2-2E5A-5DBF-A74D-EECBBE529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314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AC975-06AA-A29E-2654-EFBF9E0BD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CC749-0F0C-CBB8-94FA-400E5BF48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E208B-84E1-0BBE-991B-37E3CB34F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F5DA9-DD61-F5AB-FB9D-E2AD708A4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9E9A9-2C4A-7084-FFCC-BC4E6FD19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351B1-C645-BC7E-BE66-8AA08401E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799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1AE7-6C0C-B427-3400-033C3DABA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2E86E8-A1F1-33C3-CA13-CAAD0AAFE1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4642E1-3BD1-A67B-422B-063C1E1D46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852560-3193-6F5E-465D-CDA693160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61C943-7483-8BD7-A157-48273A4E5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6A95E-A947-F33F-3263-38D1C43D5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387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3FCEF-7184-0ECD-1682-3086DFD55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8FB38B-2414-5494-747A-AF056FA10C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58218-E951-50EC-94FB-CFA123106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C85CF-74ED-81A1-8CF1-001D7733B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9F248-CFDF-2FA7-B618-3FE2C9EC6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17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4AD946-F509-E4F1-9F4D-DCEEC9CA7C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87480E-5E55-E4C0-D3D7-DAFDBF41D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E4C7D-8058-7795-C6EF-046F187A1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29146-34B4-AB84-A61A-88864E7C5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ED08B-9865-A8F8-9CF5-F230CCBA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038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E3D113-D187-B07B-4C30-EE7AD219E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3100F-CF65-F5AB-73D3-016D02393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8DA1F-2F54-66D8-6F34-C3A346CE35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BBA540-BA88-46CF-AF59-1B801C036B8B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5630D-0539-7CF9-1EBB-6DDA666F5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3A8AA-1B9C-6811-09C1-7DA01E7240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841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bloclibrary.dev/flutter-bloc-concepts/%23bloclistener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hyperlink" Target="https://www.studocu.vn/vn/document/%20mo-hinh-bloc-trong-flutter-quan-ly-trang-thai-hieu-qua" TargetMode="External"/><Relationship Id="rId4" Type="http://schemas.openxmlformats.org/officeDocument/2006/relationships/hyperlink" Target="https://viblo.asia/p/su-dung-bloc-trong-flutter-de-quan-ly-state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A9112-BE2C-E557-2EAD-5DFB8E4B2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2703" y="2463282"/>
            <a:ext cx="9144000" cy="1544514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BLoC</a:t>
            </a:r>
            <a:r>
              <a:rPr lang="en-US" b="1" dirty="0"/>
              <a:t> Pattern-Business Logic Component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46323E-9F1D-1C09-1C62-4C0F2F32C8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51714" y="4142790"/>
            <a:ext cx="5116286" cy="1338943"/>
          </a:xfrm>
        </p:spPr>
        <p:txBody>
          <a:bodyPr/>
          <a:lstStyle/>
          <a:p>
            <a:pPr algn="just"/>
            <a:r>
              <a:rPr lang="en-US"/>
              <a:t>SVTH: 	1. </a:t>
            </a:r>
            <a:r>
              <a:rPr lang="vi-VN"/>
              <a:t>Trịnh Minh Việt</a:t>
            </a:r>
            <a:endParaRPr lang="en-US"/>
          </a:p>
          <a:p>
            <a:pPr algn="just"/>
            <a:r>
              <a:rPr lang="en-US"/>
              <a:t>	2. Trần </a:t>
            </a:r>
            <a:r>
              <a:rPr lang="vi-VN"/>
              <a:t>Lê Long Vũ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7BC51A4-5B59-8A33-71E9-028C13C8ACA9}"/>
              </a:ext>
            </a:extLst>
          </p:cNvPr>
          <p:cNvSpPr txBox="1">
            <a:spLocks/>
          </p:cNvSpPr>
          <p:nvPr/>
        </p:nvSpPr>
        <p:spPr>
          <a:xfrm>
            <a:off x="1524000" y="1347084"/>
            <a:ext cx="5116286" cy="4478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/>
              <a:t>Báo </a:t>
            </a:r>
            <a:r>
              <a:rPr lang="en-US" err="1"/>
              <a:t>cáo</a:t>
            </a:r>
            <a:r>
              <a:rPr lang="en-US"/>
              <a:t> </a:t>
            </a:r>
            <a:r>
              <a:rPr lang="en-US" err="1"/>
              <a:t>Tuần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DE3DDE-A8CA-A162-D7B9-7CF8B2DD13B5}"/>
              </a:ext>
            </a:extLst>
          </p:cNvPr>
          <p:cNvSpPr txBox="1">
            <a:spLocks/>
          </p:cNvSpPr>
          <p:nvPr/>
        </p:nvSpPr>
        <p:spPr>
          <a:xfrm>
            <a:off x="2111828" y="1959427"/>
            <a:ext cx="5116286" cy="447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err="1"/>
              <a:t>Môn</a:t>
            </a:r>
            <a:r>
              <a:rPr lang="en-US"/>
              <a:t>: </a:t>
            </a:r>
            <a:r>
              <a:rPr lang="en-US" err="1"/>
              <a:t>Lập</a:t>
            </a:r>
            <a:r>
              <a:rPr lang="en-US"/>
              <a:t> </a:t>
            </a:r>
            <a:r>
              <a:rPr lang="en-US" err="1"/>
              <a:t>trình</a:t>
            </a:r>
            <a:r>
              <a:rPr lang="en-US"/>
              <a:t> </a:t>
            </a:r>
            <a:r>
              <a:rPr lang="en-US" err="1"/>
              <a:t>Đa</a:t>
            </a:r>
            <a:r>
              <a:rPr lang="en-US"/>
              <a:t> </a:t>
            </a:r>
            <a:r>
              <a:rPr lang="en-US" err="1"/>
              <a:t>nền</a:t>
            </a:r>
            <a:r>
              <a:rPr lang="en-US"/>
              <a:t> </a:t>
            </a:r>
            <a:r>
              <a:rPr lang="en-US" err="1"/>
              <a:t>tảng</a:t>
            </a:r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B66A4CF-53EE-DE34-3FAB-9024EB0BF4C4}"/>
              </a:ext>
            </a:extLst>
          </p:cNvPr>
          <p:cNvSpPr txBox="1">
            <a:spLocks/>
          </p:cNvSpPr>
          <p:nvPr/>
        </p:nvSpPr>
        <p:spPr>
          <a:xfrm>
            <a:off x="3669242" y="390572"/>
            <a:ext cx="5116286" cy="7184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/>
              <a:t>TRƯỜNG ĐẠI HỌC BÁCH KHOA</a:t>
            </a:r>
          </a:p>
          <a:p>
            <a:r>
              <a:rPr lang="en-US" sz="2000" b="1"/>
              <a:t>KHOA ĐIỆN TỬ - VIỄN THÔNG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F936180-4B93-7126-3B30-A55A320EE230}"/>
              </a:ext>
            </a:extLst>
          </p:cNvPr>
          <p:cNvSpPr txBox="1">
            <a:spLocks/>
          </p:cNvSpPr>
          <p:nvPr/>
        </p:nvSpPr>
        <p:spPr>
          <a:xfrm>
            <a:off x="3862871" y="6078889"/>
            <a:ext cx="5116286" cy="447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err="1"/>
              <a:t>Đà</a:t>
            </a:r>
            <a:r>
              <a:rPr lang="en-US"/>
              <a:t> </a:t>
            </a:r>
            <a:r>
              <a:rPr lang="en-US" err="1"/>
              <a:t>Nẵng</a:t>
            </a:r>
            <a:r>
              <a:rPr lang="en-US"/>
              <a:t>, 2025</a:t>
            </a:r>
          </a:p>
        </p:txBody>
      </p:sp>
      <p:pic>
        <p:nvPicPr>
          <p:cNvPr id="8" name="Picture 7" descr="A logo of a company&#10;&#10;AI-generated content may be incorrect.">
            <a:extLst>
              <a:ext uri="{FF2B5EF4-FFF2-40B4-BE49-F238E27FC236}">
                <a16:creationId xmlns:a16="http://schemas.microsoft.com/office/drawing/2014/main" id="{ABDD69B4-BA41-D41A-F72B-FE0B3BCD4D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444" y="5858037"/>
            <a:ext cx="954556" cy="95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251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0CE17-3B25-2D54-F590-E273BDAB0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Nội</a:t>
            </a:r>
            <a:r>
              <a:rPr lang="en-US"/>
              <a:t>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4D456-8E08-CBE9-82AD-26602FC13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/>
              <a:t> 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03031" y="1019906"/>
            <a:ext cx="4753708" cy="9865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/>
              <a:t> </a:t>
            </a:r>
            <a:endParaRPr lang="en-US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524000" y="2006477"/>
            <a:ext cx="4667250" cy="3251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 </a:t>
            </a:r>
          </a:p>
        </p:txBody>
      </p:sp>
      <p:sp>
        <p:nvSpPr>
          <p:cNvPr id="6" name="Tiêu đề 1">
            <a:extLst>
              <a:ext uri="{FF2B5EF4-FFF2-40B4-BE49-F238E27FC236}">
                <a16:creationId xmlns:a16="http://schemas.microsoft.com/office/drawing/2014/main" id="{7386A688-EFA3-1B09-B3C6-79B5CDE82A96}"/>
              </a:ext>
            </a:extLst>
          </p:cNvPr>
          <p:cNvSpPr txBox="1">
            <a:spLocks/>
          </p:cNvSpPr>
          <p:nvPr/>
        </p:nvSpPr>
        <p:spPr>
          <a:xfrm>
            <a:off x="2826922" y="435768"/>
            <a:ext cx="6601602" cy="151926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Nhóm 9">
            <a:extLst>
              <a:ext uri="{FF2B5EF4-FFF2-40B4-BE49-F238E27FC236}">
                <a16:creationId xmlns:a16="http://schemas.microsoft.com/office/drawing/2014/main" id="{18A60E7A-600F-2557-2CEC-4BFDE683CAE4}"/>
              </a:ext>
            </a:extLst>
          </p:cNvPr>
          <p:cNvGrpSpPr/>
          <p:nvPr/>
        </p:nvGrpSpPr>
        <p:grpSpPr>
          <a:xfrm>
            <a:off x="3287274" y="2359152"/>
            <a:ext cx="2485932" cy="2139696"/>
            <a:chOff x="3097314" y="2359152"/>
            <a:chExt cx="2455007" cy="2139696"/>
          </a:xfrm>
        </p:grpSpPr>
        <p:sp>
          <p:nvSpPr>
            <p:cNvPr id="8" name="Hình chữ nhật 7">
              <a:extLst>
                <a:ext uri="{FF2B5EF4-FFF2-40B4-BE49-F238E27FC236}">
                  <a16:creationId xmlns:a16="http://schemas.microsoft.com/office/drawing/2014/main" id="{C17D5AA6-1323-807A-DCCF-21C370FEE20F}"/>
                </a:ext>
              </a:extLst>
            </p:cNvPr>
            <p:cNvSpPr/>
            <p:nvPr/>
          </p:nvSpPr>
          <p:spPr>
            <a:xfrm>
              <a:off x="3097314" y="2359152"/>
              <a:ext cx="2455007" cy="213969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762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" name="Hộp Văn bản 8">
              <a:extLst>
                <a:ext uri="{FF2B5EF4-FFF2-40B4-BE49-F238E27FC236}">
                  <a16:creationId xmlns:a16="http://schemas.microsoft.com/office/drawing/2014/main" id="{EB0F4FDA-AE45-CEE7-3A95-42278CABA3D5}"/>
                </a:ext>
              </a:extLst>
            </p:cNvPr>
            <p:cNvSpPr txBox="1"/>
            <p:nvPr/>
          </p:nvSpPr>
          <p:spPr>
            <a:xfrm>
              <a:off x="3161172" y="2941605"/>
              <a:ext cx="230761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0" name="Nhóm 11">
            <a:extLst>
              <a:ext uri="{FF2B5EF4-FFF2-40B4-BE49-F238E27FC236}">
                <a16:creationId xmlns:a16="http://schemas.microsoft.com/office/drawing/2014/main" id="{016E1495-9144-4A8A-30CA-B3C25F731BD1}"/>
              </a:ext>
            </a:extLst>
          </p:cNvPr>
          <p:cNvGrpSpPr/>
          <p:nvPr/>
        </p:nvGrpSpPr>
        <p:grpSpPr>
          <a:xfrm>
            <a:off x="6096000" y="2359152"/>
            <a:ext cx="2626707" cy="2139696"/>
            <a:chOff x="6267700" y="2359152"/>
            <a:chExt cx="2455007" cy="2139696"/>
          </a:xfrm>
        </p:grpSpPr>
        <p:sp>
          <p:nvSpPr>
            <p:cNvPr id="11" name="Hình chữ nhật 5">
              <a:extLst>
                <a:ext uri="{FF2B5EF4-FFF2-40B4-BE49-F238E27FC236}">
                  <a16:creationId xmlns:a16="http://schemas.microsoft.com/office/drawing/2014/main" id="{C6D00884-CE34-612D-2CCE-CE2F7C3B2C59}"/>
                </a:ext>
              </a:extLst>
            </p:cNvPr>
            <p:cNvSpPr/>
            <p:nvPr/>
          </p:nvSpPr>
          <p:spPr>
            <a:xfrm>
              <a:off x="6267700" y="2359152"/>
              <a:ext cx="2455007" cy="213969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762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2" name="Hộp Văn bản 10">
              <a:extLst>
                <a:ext uri="{FF2B5EF4-FFF2-40B4-BE49-F238E27FC236}">
                  <a16:creationId xmlns:a16="http://schemas.microsoft.com/office/drawing/2014/main" id="{8E6E082D-1096-DE77-7196-83013EC0C369}"/>
                </a:ext>
              </a:extLst>
            </p:cNvPr>
            <p:cNvSpPr txBox="1"/>
            <p:nvPr/>
          </p:nvSpPr>
          <p:spPr>
            <a:xfrm>
              <a:off x="6297349" y="2787163"/>
              <a:ext cx="235070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Nhóm 13">
            <a:extLst>
              <a:ext uri="{FF2B5EF4-FFF2-40B4-BE49-F238E27FC236}">
                <a16:creationId xmlns:a16="http://schemas.microsoft.com/office/drawing/2014/main" id="{7EBC26D5-801F-7E3D-064C-546E83C90B83}"/>
              </a:ext>
            </a:extLst>
          </p:cNvPr>
          <p:cNvGrpSpPr/>
          <p:nvPr/>
        </p:nvGrpSpPr>
        <p:grpSpPr>
          <a:xfrm>
            <a:off x="422487" y="2359152"/>
            <a:ext cx="2519267" cy="2139696"/>
            <a:chOff x="422487" y="2359152"/>
            <a:chExt cx="2455007" cy="2139696"/>
          </a:xfrm>
        </p:grpSpPr>
        <p:sp>
          <p:nvSpPr>
            <p:cNvPr id="14" name="Hình chữ nhật 4">
              <a:extLst>
                <a:ext uri="{FF2B5EF4-FFF2-40B4-BE49-F238E27FC236}">
                  <a16:creationId xmlns:a16="http://schemas.microsoft.com/office/drawing/2014/main" id="{6FB73AE2-9572-D1B0-8B1A-22E1BAB6A6A3}"/>
                </a:ext>
              </a:extLst>
            </p:cNvPr>
            <p:cNvSpPr/>
            <p:nvPr/>
          </p:nvSpPr>
          <p:spPr>
            <a:xfrm>
              <a:off x="422487" y="2359152"/>
              <a:ext cx="2455007" cy="213969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762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" name="Hộp Văn bản 12">
              <a:extLst>
                <a:ext uri="{FF2B5EF4-FFF2-40B4-BE49-F238E27FC236}">
                  <a16:creationId xmlns:a16="http://schemas.microsoft.com/office/drawing/2014/main" id="{F0D058AA-70B0-58C1-023E-ACA690EA829D}"/>
                </a:ext>
              </a:extLst>
            </p:cNvPr>
            <p:cNvSpPr txBox="1"/>
            <p:nvPr/>
          </p:nvSpPr>
          <p:spPr>
            <a:xfrm>
              <a:off x="599863" y="2941605"/>
              <a:ext cx="208414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6" name="Hình chữ nhật 5">
            <a:extLst>
              <a:ext uri="{FF2B5EF4-FFF2-40B4-BE49-F238E27FC236}">
                <a16:creationId xmlns:a16="http://schemas.microsoft.com/office/drawing/2014/main" id="{C6D00884-CE34-612D-2CCE-CE2F7C3B2C59}"/>
              </a:ext>
            </a:extLst>
          </p:cNvPr>
          <p:cNvSpPr/>
          <p:nvPr/>
        </p:nvSpPr>
        <p:spPr>
          <a:xfrm>
            <a:off x="9013779" y="2359152"/>
            <a:ext cx="2626707" cy="2139696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  <p:pic>
        <p:nvPicPr>
          <p:cNvPr id="18" name="Picture 17" descr="A logo of a company&#10;&#10;AI-generated content may be incorrect.">
            <a:extLst>
              <a:ext uri="{FF2B5EF4-FFF2-40B4-BE49-F238E27FC236}">
                <a16:creationId xmlns:a16="http://schemas.microsoft.com/office/drawing/2014/main" id="{ABDD69B4-BA41-D41A-F72B-FE0B3BCD4D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444" y="5858037"/>
            <a:ext cx="954556" cy="95455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312658" y="2818494"/>
            <a:ext cx="273892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vi-VN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1.</a:t>
            </a:r>
            <a:r>
              <a:rPr lang="vi-VN" sz="1800" dirty="0">
                <a:effectLst/>
                <a:latin typeface="+mj-lt"/>
                <a:ea typeface="Arial" panose="020B0604020202020204" pitchFamily="34" charset="0"/>
              </a:rPr>
              <a:t> </a:t>
            </a:r>
            <a:r>
              <a:rPr lang="vi-VN" sz="2000" dirty="0">
                <a:effectLst/>
                <a:latin typeface="+mj-lt"/>
                <a:ea typeface="Arial" panose="020B0604020202020204" pitchFamily="34" charset="0"/>
              </a:rPr>
              <a:t>Tạo BLoC class với events và states</a:t>
            </a:r>
            <a:endParaRPr lang="en-US" sz="22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241748" y="2818494"/>
            <a:ext cx="256756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2000" dirty="0">
              <a:ea typeface="Times New Roman" panose="02020603050405020304" pitchFamily="18" charset="0"/>
            </a:endParaRPr>
          </a:p>
          <a:p>
            <a:pPr algn="ctr"/>
            <a:r>
              <a:rPr lang="vi-VN" sz="2000" dirty="0">
                <a:latin typeface="+mj-lt"/>
                <a:ea typeface="Times New Roman" panose="02020603050405020304" pitchFamily="18" charset="0"/>
              </a:rPr>
              <a:t>2.</a:t>
            </a:r>
            <a:r>
              <a:rPr lang="vi-VN" sz="2000" dirty="0">
                <a:effectLst/>
                <a:latin typeface="+mj-lt"/>
                <a:ea typeface="Arial" panose="020B0604020202020204" pitchFamily="34" charset="0"/>
              </a:rPr>
              <a:t> BlocBuilder và BlocListener </a:t>
            </a:r>
            <a:r>
              <a:rPr lang="en-US" sz="2000" dirty="0">
                <a:latin typeface="+mj-lt"/>
                <a:ea typeface="Arial" panose="020B0604020202020204" pitchFamily="34" charset="0"/>
              </a:rPr>
              <a:t>W</a:t>
            </a:r>
            <a:r>
              <a:rPr lang="vi-VN" sz="2000" dirty="0">
                <a:effectLst/>
                <a:latin typeface="+mj-lt"/>
                <a:ea typeface="Arial" panose="020B0604020202020204" pitchFamily="34" charset="0"/>
              </a:rPr>
              <a:t>idgets</a:t>
            </a:r>
            <a:endParaRPr lang="en-US" sz="2000" dirty="0">
              <a:latin typeface="+mj-lt"/>
              <a:ea typeface="Times New Roman" panose="02020603050405020304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059892" y="2818494"/>
            <a:ext cx="266281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2000" dirty="0"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  <a:p>
            <a:pPr algn="ctr"/>
            <a:r>
              <a:rPr lang="vi-VN" sz="2000" dirty="0"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3.</a:t>
            </a:r>
            <a:r>
              <a:rPr lang="vi-VN" sz="20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Event handling và state transitions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045501" y="2833453"/>
            <a:ext cx="259498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ea typeface="Aptos"/>
                <a:cs typeface="Times New Roman" panose="02020603050405020304" pitchFamily="18" charset="0"/>
              </a:rPr>
              <a:t>  </a:t>
            </a:r>
          </a:p>
          <a:p>
            <a:pPr algn="ctr"/>
            <a:r>
              <a:rPr lang="vi-VN" sz="2000" dirty="0">
                <a:latin typeface="+mj-lt"/>
                <a:ea typeface="Aptos"/>
                <a:cs typeface="Times New Roman" panose="02020603050405020304" pitchFamily="18" charset="0"/>
              </a:rPr>
              <a:t>4.</a:t>
            </a:r>
            <a:r>
              <a:rPr lang="vi-VN" sz="2000" dirty="0">
                <a:effectLst/>
                <a:latin typeface="+mj-lt"/>
                <a:ea typeface="Arial" panose="020B0604020202020204" pitchFamily="34" charset="0"/>
              </a:rPr>
              <a:t> Testing BLoC với bloc_test</a:t>
            </a: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34763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0935-A182-3238-61CF-7B34B597E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DCB72E-0085-C31A-2D8A-D4096AF718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9564933"/>
              </p:ext>
            </p:extLst>
          </p:nvPr>
        </p:nvGraphicFramePr>
        <p:xfrm>
          <a:off x="838200" y="3253208"/>
          <a:ext cx="10515600" cy="161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004">
                  <a:extLst>
                    <a:ext uri="{9D8B030D-6E8A-4147-A177-3AD203B41FA5}">
                      <a16:colId xmlns:a16="http://schemas.microsoft.com/office/drawing/2014/main" val="2572418428"/>
                    </a:ext>
                  </a:extLst>
                </a:gridCol>
                <a:gridCol w="2239347">
                  <a:extLst>
                    <a:ext uri="{9D8B030D-6E8A-4147-A177-3AD203B41FA5}">
                      <a16:colId xmlns:a16="http://schemas.microsoft.com/office/drawing/2014/main" val="3198274142"/>
                    </a:ext>
                  </a:extLst>
                </a:gridCol>
                <a:gridCol w="4899349">
                  <a:extLst>
                    <a:ext uri="{9D8B030D-6E8A-4147-A177-3AD203B41FA5}">
                      <a16:colId xmlns:a16="http://schemas.microsoft.com/office/drawing/2014/main" val="85483364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719887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HỌ VÀ TÊN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NỘI DUNG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TỶ LỆ ĐÓNG GÓP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666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200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Trịnh Minh Việt</a:t>
                      </a:r>
                      <a:endParaRPr lang="en-US" sz="200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Tìm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hiểu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về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Events handling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State transitions; Test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với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bloc_test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00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sz="200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95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200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Trần Lê Long Vũ</a:t>
                      </a:r>
                      <a:endParaRPr lang="en-US" sz="200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Tìm hiểu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về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tạo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Class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với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event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state;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builder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BLoC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listener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000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251740"/>
                  </a:ext>
                </a:extLst>
              </a:tr>
            </a:tbl>
          </a:graphicData>
        </a:graphic>
      </p:graphicFrame>
      <p:pic>
        <p:nvPicPr>
          <p:cNvPr id="5" name="Picture 4" descr="A logo of a company&#10;&#10;AI-generated content may be incorrect.">
            <a:extLst>
              <a:ext uri="{FF2B5EF4-FFF2-40B4-BE49-F238E27FC236}">
                <a16:creationId xmlns:a16="http://schemas.microsoft.com/office/drawing/2014/main" id="{ABDD69B4-BA41-D41A-F72B-FE0B3BCD4D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444" y="5858037"/>
            <a:ext cx="954556" cy="95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019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879D0-65F1-0E5B-5B1F-E7D3F661F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07033-6CDD-8B0A-4A4E-9878A21E1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0FC34-30F6-F6BC-C119-4F9206AB0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/>
              <a:t> 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991E7D2-D876-53E0-3BC0-957A9760E654}"/>
              </a:ext>
            </a:extLst>
          </p:cNvPr>
          <p:cNvSpPr txBox="1">
            <a:spLocks/>
          </p:cNvSpPr>
          <p:nvPr/>
        </p:nvSpPr>
        <p:spPr>
          <a:xfrm>
            <a:off x="803031" y="1019906"/>
            <a:ext cx="4753708" cy="9865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/>
              <a:t> 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285C180-DC3B-7C39-469C-01BE4C026578}"/>
              </a:ext>
            </a:extLst>
          </p:cNvPr>
          <p:cNvSpPr txBox="1">
            <a:spLocks/>
          </p:cNvSpPr>
          <p:nvPr/>
        </p:nvSpPr>
        <p:spPr>
          <a:xfrm>
            <a:off x="1524000" y="2006477"/>
            <a:ext cx="4667250" cy="3251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 </a:t>
            </a:r>
          </a:p>
        </p:txBody>
      </p:sp>
      <p:sp>
        <p:nvSpPr>
          <p:cNvPr id="6" name="Tiêu đề 1">
            <a:extLst>
              <a:ext uri="{FF2B5EF4-FFF2-40B4-BE49-F238E27FC236}">
                <a16:creationId xmlns:a16="http://schemas.microsoft.com/office/drawing/2014/main" id="{839560D7-B001-2FCE-FEB0-9399555A41C2}"/>
              </a:ext>
            </a:extLst>
          </p:cNvPr>
          <p:cNvSpPr txBox="1">
            <a:spLocks/>
          </p:cNvSpPr>
          <p:nvPr/>
        </p:nvSpPr>
        <p:spPr>
          <a:xfrm>
            <a:off x="2826922" y="435768"/>
            <a:ext cx="6601602" cy="151926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Nhóm 9">
            <a:extLst>
              <a:ext uri="{FF2B5EF4-FFF2-40B4-BE49-F238E27FC236}">
                <a16:creationId xmlns:a16="http://schemas.microsoft.com/office/drawing/2014/main" id="{D9A55137-37A7-9DFD-518E-391B37925115}"/>
              </a:ext>
            </a:extLst>
          </p:cNvPr>
          <p:cNvGrpSpPr/>
          <p:nvPr/>
        </p:nvGrpSpPr>
        <p:grpSpPr>
          <a:xfrm>
            <a:off x="3287274" y="2359152"/>
            <a:ext cx="2485932" cy="2139696"/>
            <a:chOff x="3097314" y="2359152"/>
            <a:chExt cx="2455007" cy="2139696"/>
          </a:xfrm>
        </p:grpSpPr>
        <p:sp>
          <p:nvSpPr>
            <p:cNvPr id="8" name="Hình chữ nhật 7">
              <a:extLst>
                <a:ext uri="{FF2B5EF4-FFF2-40B4-BE49-F238E27FC236}">
                  <a16:creationId xmlns:a16="http://schemas.microsoft.com/office/drawing/2014/main" id="{99CC9D31-A2E3-01E6-D69F-8B83C01D7B5D}"/>
                </a:ext>
              </a:extLst>
            </p:cNvPr>
            <p:cNvSpPr/>
            <p:nvPr/>
          </p:nvSpPr>
          <p:spPr>
            <a:xfrm>
              <a:off x="3097314" y="2359152"/>
              <a:ext cx="2455007" cy="213969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762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" name="Hộp Văn bản 8">
              <a:extLst>
                <a:ext uri="{FF2B5EF4-FFF2-40B4-BE49-F238E27FC236}">
                  <a16:creationId xmlns:a16="http://schemas.microsoft.com/office/drawing/2014/main" id="{3B82996D-0D9F-782F-F2FA-FB8E299F6543}"/>
                </a:ext>
              </a:extLst>
            </p:cNvPr>
            <p:cNvSpPr txBox="1"/>
            <p:nvPr/>
          </p:nvSpPr>
          <p:spPr>
            <a:xfrm>
              <a:off x="3161172" y="2941605"/>
              <a:ext cx="230761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0" name="Nhóm 11">
            <a:extLst>
              <a:ext uri="{FF2B5EF4-FFF2-40B4-BE49-F238E27FC236}">
                <a16:creationId xmlns:a16="http://schemas.microsoft.com/office/drawing/2014/main" id="{A5E39957-2EBC-BED5-1D75-AF3B6077A495}"/>
              </a:ext>
            </a:extLst>
          </p:cNvPr>
          <p:cNvGrpSpPr/>
          <p:nvPr/>
        </p:nvGrpSpPr>
        <p:grpSpPr>
          <a:xfrm>
            <a:off x="6096000" y="2359152"/>
            <a:ext cx="2626707" cy="2139696"/>
            <a:chOff x="6267700" y="2359152"/>
            <a:chExt cx="2455007" cy="2139696"/>
          </a:xfrm>
        </p:grpSpPr>
        <p:sp>
          <p:nvSpPr>
            <p:cNvPr id="11" name="Hình chữ nhật 5">
              <a:extLst>
                <a:ext uri="{FF2B5EF4-FFF2-40B4-BE49-F238E27FC236}">
                  <a16:creationId xmlns:a16="http://schemas.microsoft.com/office/drawing/2014/main" id="{FDA753EA-164F-4910-2E21-6769A9DA6C2F}"/>
                </a:ext>
              </a:extLst>
            </p:cNvPr>
            <p:cNvSpPr/>
            <p:nvPr/>
          </p:nvSpPr>
          <p:spPr>
            <a:xfrm>
              <a:off x="6267700" y="2359152"/>
              <a:ext cx="2455007" cy="213969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762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2" name="Hộp Văn bản 10">
              <a:extLst>
                <a:ext uri="{FF2B5EF4-FFF2-40B4-BE49-F238E27FC236}">
                  <a16:creationId xmlns:a16="http://schemas.microsoft.com/office/drawing/2014/main" id="{206155EF-204E-0483-C4A7-B89D6FF792E1}"/>
                </a:ext>
              </a:extLst>
            </p:cNvPr>
            <p:cNvSpPr txBox="1"/>
            <p:nvPr/>
          </p:nvSpPr>
          <p:spPr>
            <a:xfrm>
              <a:off x="6297349" y="2787163"/>
              <a:ext cx="235070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Nhóm 13">
            <a:extLst>
              <a:ext uri="{FF2B5EF4-FFF2-40B4-BE49-F238E27FC236}">
                <a16:creationId xmlns:a16="http://schemas.microsoft.com/office/drawing/2014/main" id="{824AF658-8F8B-2ED1-467A-E62C6CDB2965}"/>
              </a:ext>
            </a:extLst>
          </p:cNvPr>
          <p:cNvGrpSpPr/>
          <p:nvPr/>
        </p:nvGrpSpPr>
        <p:grpSpPr>
          <a:xfrm>
            <a:off x="422487" y="2359152"/>
            <a:ext cx="2519267" cy="2139696"/>
            <a:chOff x="422487" y="2359152"/>
            <a:chExt cx="2455007" cy="2139696"/>
          </a:xfrm>
          <a:solidFill>
            <a:srgbClr val="FFC000"/>
          </a:solidFill>
        </p:grpSpPr>
        <p:sp>
          <p:nvSpPr>
            <p:cNvPr id="14" name="Hình chữ nhật 4">
              <a:extLst>
                <a:ext uri="{FF2B5EF4-FFF2-40B4-BE49-F238E27FC236}">
                  <a16:creationId xmlns:a16="http://schemas.microsoft.com/office/drawing/2014/main" id="{6F1E053F-C255-3F04-F651-4143111C7E1F}"/>
                </a:ext>
              </a:extLst>
            </p:cNvPr>
            <p:cNvSpPr/>
            <p:nvPr/>
          </p:nvSpPr>
          <p:spPr>
            <a:xfrm>
              <a:off x="422487" y="2359152"/>
              <a:ext cx="2455007" cy="2139696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762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" name="Hộp Văn bản 12">
              <a:extLst>
                <a:ext uri="{FF2B5EF4-FFF2-40B4-BE49-F238E27FC236}">
                  <a16:creationId xmlns:a16="http://schemas.microsoft.com/office/drawing/2014/main" id="{77BAF3BA-4A35-B74B-8CC4-E6EA0CE18D9C}"/>
                </a:ext>
              </a:extLst>
            </p:cNvPr>
            <p:cNvSpPr txBox="1"/>
            <p:nvPr/>
          </p:nvSpPr>
          <p:spPr>
            <a:xfrm>
              <a:off x="599863" y="2941605"/>
              <a:ext cx="2084141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6" name="Hình chữ nhật 5">
            <a:extLst>
              <a:ext uri="{FF2B5EF4-FFF2-40B4-BE49-F238E27FC236}">
                <a16:creationId xmlns:a16="http://schemas.microsoft.com/office/drawing/2014/main" id="{FEC5B207-62B1-A342-E238-6AFAC3804014}"/>
              </a:ext>
            </a:extLst>
          </p:cNvPr>
          <p:cNvSpPr/>
          <p:nvPr/>
        </p:nvSpPr>
        <p:spPr>
          <a:xfrm>
            <a:off x="9013779" y="2359152"/>
            <a:ext cx="2626707" cy="2139696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  <p:pic>
        <p:nvPicPr>
          <p:cNvPr id="18" name="Picture 17" descr="A logo of a company&#10;&#10;AI-generated content may be incorrect.">
            <a:extLst>
              <a:ext uri="{FF2B5EF4-FFF2-40B4-BE49-F238E27FC236}">
                <a16:creationId xmlns:a16="http://schemas.microsoft.com/office/drawing/2014/main" id="{5D0D0C32-96AB-451E-06C6-40CB4DE652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444" y="5858037"/>
            <a:ext cx="954556" cy="95455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4962DA7D-0A3E-7ABE-6D42-467B390ADE5A}"/>
              </a:ext>
            </a:extLst>
          </p:cNvPr>
          <p:cNvSpPr/>
          <p:nvPr/>
        </p:nvSpPr>
        <p:spPr>
          <a:xfrm>
            <a:off x="312658" y="2818494"/>
            <a:ext cx="273892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vi-VN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1.</a:t>
            </a:r>
            <a:r>
              <a:rPr lang="vi-VN" sz="1800" dirty="0">
                <a:effectLst/>
                <a:latin typeface="+mj-lt"/>
                <a:ea typeface="Arial" panose="020B0604020202020204" pitchFamily="34" charset="0"/>
              </a:rPr>
              <a:t> </a:t>
            </a:r>
            <a:r>
              <a:rPr lang="vi-VN" sz="2000" dirty="0">
                <a:effectLst/>
                <a:latin typeface="+mj-lt"/>
                <a:ea typeface="Arial" panose="020B0604020202020204" pitchFamily="34" charset="0"/>
              </a:rPr>
              <a:t>Tạo BLoC class với events và states</a:t>
            </a:r>
            <a:endParaRPr lang="en-US" sz="22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ED1394-2B09-52EB-A1D8-8E35A086539F}"/>
              </a:ext>
            </a:extLst>
          </p:cNvPr>
          <p:cNvSpPr/>
          <p:nvPr/>
        </p:nvSpPr>
        <p:spPr>
          <a:xfrm>
            <a:off x="3241748" y="2818494"/>
            <a:ext cx="256756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2000" dirty="0">
              <a:ea typeface="Times New Roman" panose="02020603050405020304" pitchFamily="18" charset="0"/>
            </a:endParaRPr>
          </a:p>
          <a:p>
            <a:pPr algn="ctr"/>
            <a:r>
              <a:rPr lang="vi-VN" sz="2000" dirty="0">
                <a:latin typeface="+mj-lt"/>
                <a:ea typeface="Times New Roman" panose="02020603050405020304" pitchFamily="18" charset="0"/>
              </a:rPr>
              <a:t>2.</a:t>
            </a:r>
            <a:r>
              <a:rPr lang="vi-VN" sz="2000" dirty="0">
                <a:effectLst/>
                <a:latin typeface="+mj-lt"/>
                <a:ea typeface="Arial" panose="020B0604020202020204" pitchFamily="34" charset="0"/>
              </a:rPr>
              <a:t> BlocBuilder và BlocListener </a:t>
            </a:r>
            <a:r>
              <a:rPr lang="en-US" sz="2000" dirty="0">
                <a:latin typeface="+mj-lt"/>
                <a:ea typeface="Arial" panose="020B0604020202020204" pitchFamily="34" charset="0"/>
              </a:rPr>
              <a:t>W</a:t>
            </a:r>
            <a:r>
              <a:rPr lang="vi-VN" sz="2000" dirty="0">
                <a:effectLst/>
                <a:latin typeface="+mj-lt"/>
                <a:ea typeface="Arial" panose="020B0604020202020204" pitchFamily="34" charset="0"/>
              </a:rPr>
              <a:t>idgets</a:t>
            </a:r>
            <a:endParaRPr lang="en-US" sz="2000" dirty="0">
              <a:latin typeface="+mj-lt"/>
              <a:ea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F47C63-CF9D-45DE-63D0-2AA89280C797}"/>
              </a:ext>
            </a:extLst>
          </p:cNvPr>
          <p:cNvSpPr/>
          <p:nvPr/>
        </p:nvSpPr>
        <p:spPr>
          <a:xfrm>
            <a:off x="6059892" y="2818494"/>
            <a:ext cx="266281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2000" dirty="0"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  <a:p>
            <a:pPr algn="ctr"/>
            <a:r>
              <a:rPr lang="vi-VN" sz="2000" dirty="0"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3.</a:t>
            </a:r>
            <a:r>
              <a:rPr lang="vi-VN" sz="20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Event handling và state transitions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ECD7CCE-799E-F0D6-F091-766E7C12F9AD}"/>
              </a:ext>
            </a:extLst>
          </p:cNvPr>
          <p:cNvSpPr/>
          <p:nvPr/>
        </p:nvSpPr>
        <p:spPr>
          <a:xfrm>
            <a:off x="9045501" y="2833453"/>
            <a:ext cx="259498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ea typeface="Aptos"/>
                <a:cs typeface="Times New Roman" panose="02020603050405020304" pitchFamily="18" charset="0"/>
              </a:rPr>
              <a:t>  </a:t>
            </a:r>
          </a:p>
          <a:p>
            <a:pPr algn="ctr"/>
            <a:r>
              <a:rPr lang="vi-VN" sz="2000" dirty="0">
                <a:latin typeface="+mj-lt"/>
                <a:ea typeface="Aptos"/>
                <a:cs typeface="Times New Roman" panose="02020603050405020304" pitchFamily="18" charset="0"/>
              </a:rPr>
              <a:t>4.</a:t>
            </a:r>
            <a:r>
              <a:rPr lang="vi-VN" sz="2000" dirty="0">
                <a:effectLst/>
                <a:latin typeface="+mj-lt"/>
                <a:ea typeface="Arial" panose="020B0604020202020204" pitchFamily="34" charset="0"/>
              </a:rPr>
              <a:t> Testing BLoC với bloc_test</a:t>
            </a: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36441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6A9BBC-3E10-D0D5-139D-7420ACE02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5833"/>
            <a:ext cx="4215063" cy="2398713"/>
          </a:xfrm>
        </p:spPr>
        <p:txBody>
          <a:bodyPr>
            <a:normAutofit/>
          </a:bodyPr>
          <a:lstStyle/>
          <a:p>
            <a:r>
              <a:rPr lang="vi-VN" b="1" dirty="0">
                <a:ea typeface="Calibri Light" panose="020F0302020204030204" pitchFamily="34" charset="0"/>
                <a:cs typeface="Calibri Light" panose="020F0302020204030204" pitchFamily="34" charset="0"/>
              </a:rPr>
              <a:t>1.1.</a:t>
            </a:r>
            <a:r>
              <a:rPr lang="en-US" b="1" dirty="0"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BLoC</a:t>
            </a:r>
            <a:r>
              <a:rPr lang="en-US" b="1" dirty="0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b="1" dirty="0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gì</a:t>
            </a:r>
            <a:r>
              <a:rPr lang="en-US" b="1" dirty="0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?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5FBCDB-FF8C-CD35-E1B4-A79D74B80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515" y="553454"/>
            <a:ext cx="8664139" cy="2469279"/>
          </a:xfrm>
          <a:prstGeom prst="rect">
            <a:avLst/>
          </a:prstGeom>
        </p:spPr>
      </p:pic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630779" y="3884452"/>
            <a:ext cx="5723021" cy="23987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fontScale="925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vi-VN" sz="1600" dirty="0">
                <a:latin typeface="+mj-lt"/>
              </a:rPr>
              <a:t>BLoC là mô hình quản lý trạng thái trong Flutter, giúp tách biệt logic nghiệp vụ khỏi giao diện và đảm bảo luồng dữ liệu đi theo một hướng</a:t>
            </a:r>
            <a:endParaRPr lang="en-US" sz="1600" dirty="0">
              <a:latin typeface="+mj-lt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60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16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16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16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6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BLoC</a:t>
            </a:r>
            <a:r>
              <a:rPr lang="en-US" sz="16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sz="1600" b="1" dirty="0">
                <a:latin typeface="+mj-lt"/>
              </a:rPr>
              <a:t>UI:</a:t>
            </a:r>
            <a:r>
              <a:rPr lang="vi-VN" sz="1600" dirty="0">
                <a:latin typeface="+mj-lt"/>
              </a:rPr>
              <a:t> Hiển thị giao diện và phản hồi khi trạng thái thay đổi.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sz="1600" b="1" dirty="0">
                <a:latin typeface="+mj-lt"/>
              </a:rPr>
              <a:t>Event:</a:t>
            </a:r>
            <a:r>
              <a:rPr lang="vi-VN" sz="1600" dirty="0">
                <a:latin typeface="+mj-lt"/>
              </a:rPr>
              <a:t> Đại diện cho hành động của người dùng.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sz="1600" b="1" dirty="0">
                <a:latin typeface="+mj-lt"/>
              </a:rPr>
              <a:t>BLoC:</a:t>
            </a:r>
            <a:r>
              <a:rPr lang="vi-VN" sz="1600" dirty="0">
                <a:latin typeface="+mj-lt"/>
              </a:rPr>
              <a:t> Xử lý event, thực hiện logic nghiệp vụ và phát ra state mới.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sz="1600" b="1" dirty="0">
                <a:latin typeface="+mj-lt"/>
              </a:rPr>
              <a:t>State:</a:t>
            </a:r>
            <a:r>
              <a:rPr lang="vi-VN" sz="1600" dirty="0">
                <a:latin typeface="+mj-lt"/>
              </a:rPr>
              <a:t> Trạng thái dữ liệu dùng để cập nhật giao diện.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sz="1600" b="1" dirty="0">
                <a:latin typeface="+mj-lt"/>
              </a:rPr>
              <a:t>Stream:</a:t>
            </a:r>
            <a:r>
              <a:rPr lang="vi-VN" sz="1600" dirty="0">
                <a:latin typeface="+mj-lt"/>
              </a:rPr>
              <a:t> Kênh truyền dữ liệu giữa event, state và BLoC.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effectLst/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 descr="A logo of a company&#10;&#10;AI-generated content may be incorrect.">
            <a:extLst>
              <a:ext uri="{FF2B5EF4-FFF2-40B4-BE49-F238E27FC236}">
                <a16:creationId xmlns:a16="http://schemas.microsoft.com/office/drawing/2014/main" id="{ABDD69B4-BA41-D41A-F72B-FE0B3BCD4D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444" y="5858037"/>
            <a:ext cx="954556" cy="95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925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6A9BBC-3E10-D0D5-139D-7420ACE02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vi-VN" sz="3100" b="1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1.</a:t>
            </a:r>
            <a:r>
              <a:rPr lang="en-US" sz="3100" b="1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2</a:t>
            </a:r>
            <a:r>
              <a:rPr lang="vi-VN" sz="3100" b="1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3100" b="1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100" b="1" err="1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Tạo</a:t>
            </a:r>
            <a:r>
              <a:rPr lang="en-US" sz="3100" b="1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100" b="1" err="1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BLoC</a:t>
            </a:r>
            <a:r>
              <a:rPr lang="en-US" sz="3100" b="1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 Class </a:t>
            </a:r>
            <a:r>
              <a:rPr lang="en-US" sz="3100" b="1" err="1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sz="3100" b="1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 Event </a:t>
            </a:r>
            <a:r>
              <a:rPr lang="en-US" sz="3100" b="1" err="1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3100" b="1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 State</a:t>
            </a:r>
            <a:r>
              <a:rPr lang="en-US" sz="31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862366" y="2194102"/>
            <a:ext cx="3427001" cy="390858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Event: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vi-V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AuthEvent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là lớp trừu tượng (abstract class)</a:t>
            </a:r>
            <a:b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Đại diện cho </a:t>
            </a:r>
            <a:r>
              <a:rPr lang="vi-V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hành động (event)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xảy ra trong quá trình xác thực người dùng.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ó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AppStarted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khởi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AuthLoginRequested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username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password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AuthLogoutRequested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khỏi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23D576F8-DC75-9D4C-CE7C-E6A4569A9E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968" y="661916"/>
            <a:ext cx="5215476" cy="5794973"/>
          </a:xfrm>
          <a:prstGeom prst="rect">
            <a:avLst/>
          </a:prstGeom>
        </p:spPr>
      </p:pic>
      <p:pic>
        <p:nvPicPr>
          <p:cNvPr id="4" name="Picture 3" descr="A logo of a company&#10;&#10;AI-generated content may be incorrect.">
            <a:extLst>
              <a:ext uri="{FF2B5EF4-FFF2-40B4-BE49-F238E27FC236}">
                <a16:creationId xmlns:a16="http://schemas.microsoft.com/office/drawing/2014/main" id="{ABDD69B4-BA41-D41A-F72B-FE0B3BCD4D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444" y="5858037"/>
            <a:ext cx="954556" cy="95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356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880123-E57B-E6E9-9544-F02AABA22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4F07CA-4A51-B69D-E0A4-1F61F1AE6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vi-VN" sz="4100" b="1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1.</a:t>
            </a:r>
            <a:r>
              <a:rPr lang="en-US" sz="4100" b="1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2</a:t>
            </a:r>
            <a:r>
              <a:rPr lang="vi-VN" sz="4100" b="1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4100" b="1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100" b="1" err="1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Tạo</a:t>
            </a:r>
            <a:r>
              <a:rPr lang="en-US" sz="4100" b="1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100" b="1" err="1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BLoC</a:t>
            </a:r>
            <a:r>
              <a:rPr lang="en-US" sz="4100" b="1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 Class </a:t>
            </a:r>
            <a:r>
              <a:rPr lang="en-US" sz="4100" b="1" err="1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sz="4100" b="1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 Event </a:t>
            </a:r>
            <a:r>
              <a:rPr lang="en-US" sz="4100" b="1" err="1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4100" b="1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 State</a:t>
            </a:r>
            <a:r>
              <a:rPr lang="en-US" sz="41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2DA1592-AC5B-CBF3-3911-FC391E1C99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7034" y="2194102"/>
            <a:ext cx="4438036" cy="39085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State: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vi-V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AuthState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là lớp trừu tượng (abstract class)</a:t>
            </a:r>
            <a:b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Đại diện cho </a:t>
            </a:r>
            <a:r>
              <a:rPr lang="vi-V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trạng thái (state)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khác nhau trong quy trình xác thực người dùng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ó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State: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AuthInitial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mặc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khởi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AuthLoading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AuthAuthenticated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Trạng thái </a:t>
            </a:r>
            <a:r>
              <a:rPr lang="vi-V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người dùng đã đăng nhập thành công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AuthError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bại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khẩu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AuthUnauthenticated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Trạng thái khi </a:t>
            </a:r>
            <a:r>
              <a:rPr lang="vi-V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người dùng đã đăng xuất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hoặc </a:t>
            </a:r>
            <a:r>
              <a:rPr lang="vi-V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chưa từng đăng nhập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F2255955-BE78-27CD-AC5F-7C1E11EC8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610" y="808080"/>
            <a:ext cx="4737650" cy="5264055"/>
          </a:xfrm>
          <a:prstGeom prst="rect">
            <a:avLst/>
          </a:prstGeom>
        </p:spPr>
      </p:pic>
      <p:pic>
        <p:nvPicPr>
          <p:cNvPr id="4" name="Picture 3" descr="A logo of a company&#10;&#10;AI-generated content may be incorrect.">
            <a:extLst>
              <a:ext uri="{FF2B5EF4-FFF2-40B4-BE49-F238E27FC236}">
                <a16:creationId xmlns:a16="http://schemas.microsoft.com/office/drawing/2014/main" id="{F99E705C-547C-A042-C477-7465D8115D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444" y="5858037"/>
            <a:ext cx="954556" cy="95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373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99C5E2-ADA5-9B5E-DDDB-40CA84149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6BBF38-A89A-16A3-7803-1BF1D2414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5167185" cy="1680519"/>
          </a:xfrm>
        </p:spPr>
        <p:txBody>
          <a:bodyPr>
            <a:normAutofit/>
          </a:bodyPr>
          <a:lstStyle/>
          <a:p>
            <a:r>
              <a:rPr lang="vi-VN" sz="4000" b="1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1.</a:t>
            </a:r>
            <a:r>
              <a:rPr lang="en-US" sz="4000" b="1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2</a:t>
            </a:r>
            <a:r>
              <a:rPr lang="vi-VN" sz="4000" b="1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4000" b="1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 Tạo BLoC Class với Event và State</a:t>
            </a:r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B808C4E-F74B-71A9-D168-ABAC5A8E12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86619" y="547815"/>
            <a:ext cx="5178960" cy="16805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lí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(authentication)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Bao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khởi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lắng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Event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</a:t>
            </a:r>
            <a:endParaRPr 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CAA6BA49-03E2-C927-56DB-55C044621B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078" y="2228334"/>
            <a:ext cx="4435359" cy="4257946"/>
          </a:xfrm>
          <a:prstGeom prst="rect">
            <a:avLst/>
          </a:prstGeom>
        </p:spPr>
      </p:pic>
      <p:pic>
        <p:nvPicPr>
          <p:cNvPr id="19" name="Picture 18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57E139CD-0195-2F17-F5E2-0D967ADE60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968" y="2228334"/>
            <a:ext cx="4446940" cy="4257946"/>
          </a:xfrm>
          <a:prstGeom prst="rect">
            <a:avLst/>
          </a:prstGeom>
        </p:spPr>
      </p:pic>
      <p:pic>
        <p:nvPicPr>
          <p:cNvPr id="4" name="Picture 3" descr="A logo of a company&#10;&#10;AI-generated content may be incorrect.">
            <a:extLst>
              <a:ext uri="{FF2B5EF4-FFF2-40B4-BE49-F238E27FC236}">
                <a16:creationId xmlns:a16="http://schemas.microsoft.com/office/drawing/2014/main" id="{8A8B4E55-5B32-4095-B23C-B854CBD8A2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444" y="5858037"/>
            <a:ext cx="954556" cy="95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65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1B047-0644-5D4A-78AB-32561CE36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E0C41-5530-14E1-B6E2-1F64093EF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80DA4-B45B-3966-F5B7-8E26ED3BD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/>
              <a:t> 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33AA41A-0B20-6FCA-5D6D-25EE2D4E3305}"/>
              </a:ext>
            </a:extLst>
          </p:cNvPr>
          <p:cNvSpPr txBox="1">
            <a:spLocks/>
          </p:cNvSpPr>
          <p:nvPr/>
        </p:nvSpPr>
        <p:spPr>
          <a:xfrm>
            <a:off x="803031" y="1019906"/>
            <a:ext cx="4753708" cy="9865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/>
              <a:t> 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6329E79-0524-8C2E-A0F5-634DCCFB2435}"/>
              </a:ext>
            </a:extLst>
          </p:cNvPr>
          <p:cNvSpPr txBox="1">
            <a:spLocks/>
          </p:cNvSpPr>
          <p:nvPr/>
        </p:nvSpPr>
        <p:spPr>
          <a:xfrm>
            <a:off x="1524000" y="2006477"/>
            <a:ext cx="4667250" cy="3251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 </a:t>
            </a:r>
          </a:p>
        </p:txBody>
      </p:sp>
      <p:sp>
        <p:nvSpPr>
          <p:cNvPr id="6" name="Tiêu đề 1">
            <a:extLst>
              <a:ext uri="{FF2B5EF4-FFF2-40B4-BE49-F238E27FC236}">
                <a16:creationId xmlns:a16="http://schemas.microsoft.com/office/drawing/2014/main" id="{F09B48DB-A580-E053-B747-726D3E89A0B2}"/>
              </a:ext>
            </a:extLst>
          </p:cNvPr>
          <p:cNvSpPr txBox="1">
            <a:spLocks/>
          </p:cNvSpPr>
          <p:nvPr/>
        </p:nvSpPr>
        <p:spPr>
          <a:xfrm>
            <a:off x="2826922" y="435768"/>
            <a:ext cx="6601602" cy="151926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Nhóm 9">
            <a:extLst>
              <a:ext uri="{FF2B5EF4-FFF2-40B4-BE49-F238E27FC236}">
                <a16:creationId xmlns:a16="http://schemas.microsoft.com/office/drawing/2014/main" id="{316B1479-5D05-6185-966B-2ED3D27619A2}"/>
              </a:ext>
            </a:extLst>
          </p:cNvPr>
          <p:cNvGrpSpPr/>
          <p:nvPr/>
        </p:nvGrpSpPr>
        <p:grpSpPr>
          <a:xfrm>
            <a:off x="3287274" y="2359152"/>
            <a:ext cx="2485932" cy="2139696"/>
            <a:chOff x="3097314" y="2359152"/>
            <a:chExt cx="2455007" cy="2139696"/>
          </a:xfrm>
          <a:solidFill>
            <a:srgbClr val="FFC000"/>
          </a:solidFill>
        </p:grpSpPr>
        <p:sp>
          <p:nvSpPr>
            <p:cNvPr id="8" name="Hình chữ nhật 7">
              <a:extLst>
                <a:ext uri="{FF2B5EF4-FFF2-40B4-BE49-F238E27FC236}">
                  <a16:creationId xmlns:a16="http://schemas.microsoft.com/office/drawing/2014/main" id="{022F4EE4-ED4E-2BBF-B7A2-991BFFD42A33}"/>
                </a:ext>
              </a:extLst>
            </p:cNvPr>
            <p:cNvSpPr/>
            <p:nvPr/>
          </p:nvSpPr>
          <p:spPr>
            <a:xfrm>
              <a:off x="3097314" y="2359152"/>
              <a:ext cx="2455007" cy="2139696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762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" name="Hộp Văn bản 8">
              <a:extLst>
                <a:ext uri="{FF2B5EF4-FFF2-40B4-BE49-F238E27FC236}">
                  <a16:creationId xmlns:a16="http://schemas.microsoft.com/office/drawing/2014/main" id="{DAF1C381-3891-743F-9BE0-DAF1D45C032E}"/>
                </a:ext>
              </a:extLst>
            </p:cNvPr>
            <p:cNvSpPr txBox="1"/>
            <p:nvPr/>
          </p:nvSpPr>
          <p:spPr>
            <a:xfrm>
              <a:off x="3161172" y="2941605"/>
              <a:ext cx="2307619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0" name="Nhóm 11">
            <a:extLst>
              <a:ext uri="{FF2B5EF4-FFF2-40B4-BE49-F238E27FC236}">
                <a16:creationId xmlns:a16="http://schemas.microsoft.com/office/drawing/2014/main" id="{5F5CC7A5-5213-86CA-0184-9CE0CE877644}"/>
              </a:ext>
            </a:extLst>
          </p:cNvPr>
          <p:cNvGrpSpPr/>
          <p:nvPr/>
        </p:nvGrpSpPr>
        <p:grpSpPr>
          <a:xfrm>
            <a:off x="6096000" y="2359152"/>
            <a:ext cx="2626707" cy="2139696"/>
            <a:chOff x="6267700" y="2359152"/>
            <a:chExt cx="2455007" cy="2139696"/>
          </a:xfrm>
        </p:grpSpPr>
        <p:sp>
          <p:nvSpPr>
            <p:cNvPr id="11" name="Hình chữ nhật 5">
              <a:extLst>
                <a:ext uri="{FF2B5EF4-FFF2-40B4-BE49-F238E27FC236}">
                  <a16:creationId xmlns:a16="http://schemas.microsoft.com/office/drawing/2014/main" id="{7943EE69-3560-5992-3F24-B3396A10DFF0}"/>
                </a:ext>
              </a:extLst>
            </p:cNvPr>
            <p:cNvSpPr/>
            <p:nvPr/>
          </p:nvSpPr>
          <p:spPr>
            <a:xfrm>
              <a:off x="6267700" y="2359152"/>
              <a:ext cx="2455007" cy="213969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762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2" name="Hộp Văn bản 10">
              <a:extLst>
                <a:ext uri="{FF2B5EF4-FFF2-40B4-BE49-F238E27FC236}">
                  <a16:creationId xmlns:a16="http://schemas.microsoft.com/office/drawing/2014/main" id="{BC42390B-3794-8754-6435-1AFFF6267A46}"/>
                </a:ext>
              </a:extLst>
            </p:cNvPr>
            <p:cNvSpPr txBox="1"/>
            <p:nvPr/>
          </p:nvSpPr>
          <p:spPr>
            <a:xfrm>
              <a:off x="6297349" y="2787163"/>
              <a:ext cx="235070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Nhóm 13">
            <a:extLst>
              <a:ext uri="{FF2B5EF4-FFF2-40B4-BE49-F238E27FC236}">
                <a16:creationId xmlns:a16="http://schemas.microsoft.com/office/drawing/2014/main" id="{4AFA8DCA-D070-F6A8-C571-67109E92CF65}"/>
              </a:ext>
            </a:extLst>
          </p:cNvPr>
          <p:cNvGrpSpPr/>
          <p:nvPr/>
        </p:nvGrpSpPr>
        <p:grpSpPr>
          <a:xfrm>
            <a:off x="422487" y="2359152"/>
            <a:ext cx="2519267" cy="2139696"/>
            <a:chOff x="422487" y="2359152"/>
            <a:chExt cx="2455007" cy="2139696"/>
          </a:xfrm>
        </p:grpSpPr>
        <p:sp>
          <p:nvSpPr>
            <p:cNvPr id="14" name="Hình chữ nhật 4">
              <a:extLst>
                <a:ext uri="{FF2B5EF4-FFF2-40B4-BE49-F238E27FC236}">
                  <a16:creationId xmlns:a16="http://schemas.microsoft.com/office/drawing/2014/main" id="{B5E76FDB-1BA7-B04A-E55D-2BF9977252A8}"/>
                </a:ext>
              </a:extLst>
            </p:cNvPr>
            <p:cNvSpPr/>
            <p:nvPr/>
          </p:nvSpPr>
          <p:spPr>
            <a:xfrm>
              <a:off x="422487" y="2359152"/>
              <a:ext cx="2455007" cy="213969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762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" name="Hộp Văn bản 12">
              <a:extLst>
                <a:ext uri="{FF2B5EF4-FFF2-40B4-BE49-F238E27FC236}">
                  <a16:creationId xmlns:a16="http://schemas.microsoft.com/office/drawing/2014/main" id="{4508965C-B54B-74C0-A335-FC2A667FEA4C}"/>
                </a:ext>
              </a:extLst>
            </p:cNvPr>
            <p:cNvSpPr txBox="1"/>
            <p:nvPr/>
          </p:nvSpPr>
          <p:spPr>
            <a:xfrm>
              <a:off x="599863" y="2941605"/>
              <a:ext cx="208414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6" name="Hình chữ nhật 5">
            <a:extLst>
              <a:ext uri="{FF2B5EF4-FFF2-40B4-BE49-F238E27FC236}">
                <a16:creationId xmlns:a16="http://schemas.microsoft.com/office/drawing/2014/main" id="{7932C836-0878-BC5E-1BCA-17B83D4EC7FF}"/>
              </a:ext>
            </a:extLst>
          </p:cNvPr>
          <p:cNvSpPr/>
          <p:nvPr/>
        </p:nvSpPr>
        <p:spPr>
          <a:xfrm>
            <a:off x="9013779" y="2359152"/>
            <a:ext cx="2626707" cy="2139696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  <p:pic>
        <p:nvPicPr>
          <p:cNvPr id="18" name="Picture 17" descr="A logo of a company&#10;&#10;AI-generated content may be incorrect.">
            <a:extLst>
              <a:ext uri="{FF2B5EF4-FFF2-40B4-BE49-F238E27FC236}">
                <a16:creationId xmlns:a16="http://schemas.microsoft.com/office/drawing/2014/main" id="{1D9B7E17-82D2-D6DD-2E2D-262D429A3E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444" y="5858037"/>
            <a:ext cx="954556" cy="95455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67EECB6-EE33-AB3A-9035-8DF55BB06DB3}"/>
              </a:ext>
            </a:extLst>
          </p:cNvPr>
          <p:cNvSpPr/>
          <p:nvPr/>
        </p:nvSpPr>
        <p:spPr>
          <a:xfrm>
            <a:off x="312658" y="2818494"/>
            <a:ext cx="273892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vi-VN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1.</a:t>
            </a:r>
            <a:r>
              <a:rPr lang="vi-VN" sz="1800" dirty="0">
                <a:effectLst/>
                <a:latin typeface="+mj-lt"/>
                <a:ea typeface="Arial" panose="020B0604020202020204" pitchFamily="34" charset="0"/>
              </a:rPr>
              <a:t> </a:t>
            </a:r>
            <a:r>
              <a:rPr lang="vi-VN" sz="2000" dirty="0">
                <a:effectLst/>
                <a:latin typeface="+mj-lt"/>
                <a:ea typeface="Arial" panose="020B0604020202020204" pitchFamily="34" charset="0"/>
              </a:rPr>
              <a:t>Tạo BLoC class với events và states</a:t>
            </a:r>
            <a:endParaRPr lang="en-US" sz="22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A458FB-7E27-5DED-5248-C513AD12C9E2}"/>
              </a:ext>
            </a:extLst>
          </p:cNvPr>
          <p:cNvSpPr/>
          <p:nvPr/>
        </p:nvSpPr>
        <p:spPr>
          <a:xfrm>
            <a:off x="3241748" y="2818494"/>
            <a:ext cx="256756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2000" dirty="0">
              <a:ea typeface="Times New Roman" panose="02020603050405020304" pitchFamily="18" charset="0"/>
            </a:endParaRPr>
          </a:p>
          <a:p>
            <a:pPr algn="ctr"/>
            <a:r>
              <a:rPr lang="vi-VN" sz="2000" dirty="0">
                <a:latin typeface="+mj-lt"/>
                <a:ea typeface="Times New Roman" panose="02020603050405020304" pitchFamily="18" charset="0"/>
              </a:rPr>
              <a:t>2.</a:t>
            </a:r>
            <a:r>
              <a:rPr lang="vi-VN" sz="2000" dirty="0">
                <a:effectLst/>
                <a:latin typeface="+mj-lt"/>
                <a:ea typeface="Arial" panose="020B0604020202020204" pitchFamily="34" charset="0"/>
              </a:rPr>
              <a:t> BlocBuilder và BlocListener </a:t>
            </a:r>
            <a:r>
              <a:rPr lang="en-US" sz="2000" dirty="0">
                <a:latin typeface="+mj-lt"/>
                <a:ea typeface="Arial" panose="020B0604020202020204" pitchFamily="34" charset="0"/>
              </a:rPr>
              <a:t>W</a:t>
            </a:r>
            <a:r>
              <a:rPr lang="vi-VN" sz="2000" dirty="0">
                <a:effectLst/>
                <a:latin typeface="+mj-lt"/>
                <a:ea typeface="Arial" panose="020B0604020202020204" pitchFamily="34" charset="0"/>
              </a:rPr>
              <a:t>idgets</a:t>
            </a:r>
            <a:endParaRPr lang="en-US" sz="2000" dirty="0">
              <a:latin typeface="+mj-lt"/>
              <a:ea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CAB8981-62AE-17D1-60AA-3FDFC2A14DAB}"/>
              </a:ext>
            </a:extLst>
          </p:cNvPr>
          <p:cNvSpPr/>
          <p:nvPr/>
        </p:nvSpPr>
        <p:spPr>
          <a:xfrm>
            <a:off x="6059892" y="2818494"/>
            <a:ext cx="266281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2000" dirty="0"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  <a:p>
            <a:pPr algn="ctr"/>
            <a:r>
              <a:rPr lang="vi-VN" sz="2000" dirty="0"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3.</a:t>
            </a:r>
            <a:r>
              <a:rPr lang="vi-VN" sz="20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Event handling và state transitions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CDBAEFF-6DB2-19B2-155F-3377B79C0A57}"/>
              </a:ext>
            </a:extLst>
          </p:cNvPr>
          <p:cNvSpPr/>
          <p:nvPr/>
        </p:nvSpPr>
        <p:spPr>
          <a:xfrm>
            <a:off x="9045501" y="2833453"/>
            <a:ext cx="259498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ea typeface="Aptos"/>
                <a:cs typeface="Times New Roman" panose="02020603050405020304" pitchFamily="18" charset="0"/>
              </a:rPr>
              <a:t>  </a:t>
            </a:r>
          </a:p>
          <a:p>
            <a:pPr algn="ctr"/>
            <a:r>
              <a:rPr lang="vi-VN" sz="2000" dirty="0">
                <a:latin typeface="+mj-lt"/>
                <a:ea typeface="Aptos"/>
                <a:cs typeface="Times New Roman" panose="02020603050405020304" pitchFamily="18" charset="0"/>
              </a:rPr>
              <a:t>4.</a:t>
            </a:r>
            <a:r>
              <a:rPr lang="vi-VN" sz="2000" dirty="0">
                <a:effectLst/>
                <a:latin typeface="+mj-lt"/>
                <a:ea typeface="Arial" panose="020B0604020202020204" pitchFamily="34" charset="0"/>
              </a:rPr>
              <a:t> Testing BLoC với bloc_test</a:t>
            </a: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41793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865602-909D-397B-00C5-656DEE976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072020-04F9-2296-07AC-47A638596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2.1</a:t>
            </a:r>
            <a:r>
              <a:rPr lang="vi-VN" b="1" dirty="0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.</a:t>
            </a:r>
            <a:r>
              <a:rPr lang="en-US" b="1" dirty="0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BLoC</a:t>
            </a:r>
            <a:r>
              <a:rPr lang="en-US" b="1" dirty="0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 builder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354870A-F2BD-7771-BA59-19A265C3DD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62366" y="2194102"/>
            <a:ext cx="3427001" cy="390858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Dùng để: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Xây dựng lại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khi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State thay đổi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Cơ chế :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BLoC phát hiện State mới -&gt; BlocBuilder nhận -&gt; gọi builder() -&gt; UI cập nhật</a:t>
            </a: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Lưu ý: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chỉ ảnh hưởng đến UI, không thực hiện side effects</a:t>
            </a: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F62BA7A3-CCF4-6D7C-8F4E-565575C857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812" y="661916"/>
            <a:ext cx="5850431" cy="5557909"/>
          </a:xfrm>
          <a:prstGeom prst="rect">
            <a:avLst/>
          </a:prstGeom>
        </p:spPr>
      </p:pic>
      <p:pic>
        <p:nvPicPr>
          <p:cNvPr id="4" name="Picture 3" descr="A logo of a company&#10;&#10;AI-generated content may be incorrect.">
            <a:extLst>
              <a:ext uri="{FF2B5EF4-FFF2-40B4-BE49-F238E27FC236}">
                <a16:creationId xmlns:a16="http://schemas.microsoft.com/office/drawing/2014/main" id="{17C4705B-9A1A-C79C-2DD4-60054C6A20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444" y="5858037"/>
            <a:ext cx="954556" cy="954556"/>
          </a:xfrm>
          <a:prstGeom prst="rect">
            <a:avLst/>
          </a:prstGeom>
        </p:spPr>
      </p:pic>
      <p:sp>
        <p:nvSpPr>
          <p:cNvPr id="12" name="Rectangle 6">
            <a:extLst>
              <a:ext uri="{FF2B5EF4-FFF2-40B4-BE49-F238E27FC236}">
                <a16:creationId xmlns:a16="http://schemas.microsoft.com/office/drawing/2014/main" id="{E1CFA438-0045-701D-66C9-48DF05AA2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1637"/>
            <a:ext cx="7253909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Cơ chế: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BLoC phát state mới → BlocBuilder nhận → gọi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builder()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UI cập nhật.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467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87E214-64CC-F549-1AE5-E59CE27FB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0C6D0E-0855-9FEF-8547-14BE2F589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2.2</a:t>
            </a:r>
            <a:r>
              <a:rPr lang="vi-VN" b="1" dirty="0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.</a:t>
            </a:r>
            <a:r>
              <a:rPr lang="en-US" b="1" dirty="0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BLoC</a:t>
            </a:r>
            <a:r>
              <a:rPr lang="en-US" b="1" dirty="0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 Listener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CA27205-F863-2A79-0CB6-3C0272C3AE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62366" y="2194102"/>
            <a:ext cx="3427001" cy="390858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 effects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dialog,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v.v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-&gt;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BlocListener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listener()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ý: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rebuild UI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D9E64188-350A-803C-1598-6CD559C5A3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812" y="661916"/>
            <a:ext cx="5850431" cy="5557909"/>
          </a:xfrm>
          <a:prstGeom prst="rect">
            <a:avLst/>
          </a:prstGeom>
        </p:spPr>
      </p:pic>
      <p:pic>
        <p:nvPicPr>
          <p:cNvPr id="4" name="Picture 3" descr="A logo of a company&#10;&#10;AI-generated content may be incorrect.">
            <a:extLst>
              <a:ext uri="{FF2B5EF4-FFF2-40B4-BE49-F238E27FC236}">
                <a16:creationId xmlns:a16="http://schemas.microsoft.com/office/drawing/2014/main" id="{3F4FC6EB-F699-754B-0ACF-A4A07DAEB2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444" y="5858037"/>
            <a:ext cx="954556" cy="95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359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63A99-A7BD-D832-6B0F-A547AAEB4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C6FF7-0834-A8FA-0AC1-9BE03275B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41B01-1B50-9C5D-BD01-17EA35C9A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/>
              <a:t> 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ECFD44E-D229-9A2F-83E5-898E7020FFDA}"/>
              </a:ext>
            </a:extLst>
          </p:cNvPr>
          <p:cNvSpPr txBox="1">
            <a:spLocks/>
          </p:cNvSpPr>
          <p:nvPr/>
        </p:nvSpPr>
        <p:spPr>
          <a:xfrm>
            <a:off x="803031" y="1019906"/>
            <a:ext cx="4753708" cy="9865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/>
              <a:t> 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9F0805A-83E8-7668-4EB1-70F51321B47E}"/>
              </a:ext>
            </a:extLst>
          </p:cNvPr>
          <p:cNvSpPr txBox="1">
            <a:spLocks/>
          </p:cNvSpPr>
          <p:nvPr/>
        </p:nvSpPr>
        <p:spPr>
          <a:xfrm>
            <a:off x="1524000" y="2006477"/>
            <a:ext cx="4667250" cy="3251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 </a:t>
            </a:r>
          </a:p>
        </p:txBody>
      </p:sp>
      <p:sp>
        <p:nvSpPr>
          <p:cNvPr id="6" name="Tiêu đề 1">
            <a:extLst>
              <a:ext uri="{FF2B5EF4-FFF2-40B4-BE49-F238E27FC236}">
                <a16:creationId xmlns:a16="http://schemas.microsoft.com/office/drawing/2014/main" id="{ACCB0364-7AC7-0547-4866-760BD89EB653}"/>
              </a:ext>
            </a:extLst>
          </p:cNvPr>
          <p:cNvSpPr txBox="1">
            <a:spLocks/>
          </p:cNvSpPr>
          <p:nvPr/>
        </p:nvSpPr>
        <p:spPr>
          <a:xfrm>
            <a:off x="2826922" y="435768"/>
            <a:ext cx="6601602" cy="151926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Nhóm 9">
            <a:extLst>
              <a:ext uri="{FF2B5EF4-FFF2-40B4-BE49-F238E27FC236}">
                <a16:creationId xmlns:a16="http://schemas.microsoft.com/office/drawing/2014/main" id="{22E5082C-5F94-32FF-8424-77881DDF65D0}"/>
              </a:ext>
            </a:extLst>
          </p:cNvPr>
          <p:cNvGrpSpPr/>
          <p:nvPr/>
        </p:nvGrpSpPr>
        <p:grpSpPr>
          <a:xfrm>
            <a:off x="3287274" y="2359152"/>
            <a:ext cx="2485932" cy="2139696"/>
            <a:chOff x="3097314" y="2359152"/>
            <a:chExt cx="2455007" cy="2139696"/>
          </a:xfrm>
        </p:grpSpPr>
        <p:sp>
          <p:nvSpPr>
            <p:cNvPr id="8" name="Hình chữ nhật 7">
              <a:extLst>
                <a:ext uri="{FF2B5EF4-FFF2-40B4-BE49-F238E27FC236}">
                  <a16:creationId xmlns:a16="http://schemas.microsoft.com/office/drawing/2014/main" id="{01941B40-DF43-886A-5716-9551B4F5218A}"/>
                </a:ext>
              </a:extLst>
            </p:cNvPr>
            <p:cNvSpPr/>
            <p:nvPr/>
          </p:nvSpPr>
          <p:spPr>
            <a:xfrm>
              <a:off x="3097314" y="2359152"/>
              <a:ext cx="2455007" cy="213969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762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" name="Hộp Văn bản 8">
              <a:extLst>
                <a:ext uri="{FF2B5EF4-FFF2-40B4-BE49-F238E27FC236}">
                  <a16:creationId xmlns:a16="http://schemas.microsoft.com/office/drawing/2014/main" id="{355171FC-D60F-ED15-6DB2-412AF32FA4DE}"/>
                </a:ext>
              </a:extLst>
            </p:cNvPr>
            <p:cNvSpPr txBox="1"/>
            <p:nvPr/>
          </p:nvSpPr>
          <p:spPr>
            <a:xfrm>
              <a:off x="3161172" y="2941605"/>
              <a:ext cx="230761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0" name="Nhóm 11">
            <a:extLst>
              <a:ext uri="{FF2B5EF4-FFF2-40B4-BE49-F238E27FC236}">
                <a16:creationId xmlns:a16="http://schemas.microsoft.com/office/drawing/2014/main" id="{042E6F55-FF46-1406-2DB6-7A7F01F49AE6}"/>
              </a:ext>
            </a:extLst>
          </p:cNvPr>
          <p:cNvGrpSpPr/>
          <p:nvPr/>
        </p:nvGrpSpPr>
        <p:grpSpPr>
          <a:xfrm>
            <a:off x="6096000" y="2359152"/>
            <a:ext cx="2626707" cy="2139696"/>
            <a:chOff x="6267700" y="2359152"/>
            <a:chExt cx="2455007" cy="2139696"/>
          </a:xfrm>
          <a:solidFill>
            <a:srgbClr val="FFC000"/>
          </a:solidFill>
        </p:grpSpPr>
        <p:sp>
          <p:nvSpPr>
            <p:cNvPr id="11" name="Hình chữ nhật 5">
              <a:extLst>
                <a:ext uri="{FF2B5EF4-FFF2-40B4-BE49-F238E27FC236}">
                  <a16:creationId xmlns:a16="http://schemas.microsoft.com/office/drawing/2014/main" id="{7975749A-C9B8-CEE7-E510-6C62317C9607}"/>
                </a:ext>
              </a:extLst>
            </p:cNvPr>
            <p:cNvSpPr/>
            <p:nvPr/>
          </p:nvSpPr>
          <p:spPr>
            <a:xfrm>
              <a:off x="6267700" y="2359152"/>
              <a:ext cx="2455007" cy="2139696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762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2" name="Hộp Văn bản 10">
              <a:extLst>
                <a:ext uri="{FF2B5EF4-FFF2-40B4-BE49-F238E27FC236}">
                  <a16:creationId xmlns:a16="http://schemas.microsoft.com/office/drawing/2014/main" id="{D5D433B2-AD2C-0623-4DA9-60F51D9B0187}"/>
                </a:ext>
              </a:extLst>
            </p:cNvPr>
            <p:cNvSpPr txBox="1"/>
            <p:nvPr/>
          </p:nvSpPr>
          <p:spPr>
            <a:xfrm>
              <a:off x="6297349" y="2787163"/>
              <a:ext cx="2350709" cy="43088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sz="2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Nhóm 13">
            <a:extLst>
              <a:ext uri="{FF2B5EF4-FFF2-40B4-BE49-F238E27FC236}">
                <a16:creationId xmlns:a16="http://schemas.microsoft.com/office/drawing/2014/main" id="{5C41437A-578C-A0B0-3CF9-46048FFED6B8}"/>
              </a:ext>
            </a:extLst>
          </p:cNvPr>
          <p:cNvGrpSpPr/>
          <p:nvPr/>
        </p:nvGrpSpPr>
        <p:grpSpPr>
          <a:xfrm>
            <a:off x="422487" y="2359152"/>
            <a:ext cx="2519267" cy="2139696"/>
            <a:chOff x="422487" y="2359152"/>
            <a:chExt cx="2455007" cy="2139696"/>
          </a:xfrm>
        </p:grpSpPr>
        <p:sp>
          <p:nvSpPr>
            <p:cNvPr id="14" name="Hình chữ nhật 4">
              <a:extLst>
                <a:ext uri="{FF2B5EF4-FFF2-40B4-BE49-F238E27FC236}">
                  <a16:creationId xmlns:a16="http://schemas.microsoft.com/office/drawing/2014/main" id="{3CC66EAA-B5C0-0C20-602D-49E05E9D8C6A}"/>
                </a:ext>
              </a:extLst>
            </p:cNvPr>
            <p:cNvSpPr/>
            <p:nvPr/>
          </p:nvSpPr>
          <p:spPr>
            <a:xfrm>
              <a:off x="422487" y="2359152"/>
              <a:ext cx="2455007" cy="213969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762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" name="Hộp Văn bản 12">
              <a:extLst>
                <a:ext uri="{FF2B5EF4-FFF2-40B4-BE49-F238E27FC236}">
                  <a16:creationId xmlns:a16="http://schemas.microsoft.com/office/drawing/2014/main" id="{21241D3B-01A2-4308-DBBC-8EBBB815CA70}"/>
                </a:ext>
              </a:extLst>
            </p:cNvPr>
            <p:cNvSpPr txBox="1"/>
            <p:nvPr/>
          </p:nvSpPr>
          <p:spPr>
            <a:xfrm>
              <a:off x="599863" y="2941605"/>
              <a:ext cx="208414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6" name="Hình chữ nhật 5">
            <a:extLst>
              <a:ext uri="{FF2B5EF4-FFF2-40B4-BE49-F238E27FC236}">
                <a16:creationId xmlns:a16="http://schemas.microsoft.com/office/drawing/2014/main" id="{7008FECF-151F-EABF-70FE-8070731E8E19}"/>
              </a:ext>
            </a:extLst>
          </p:cNvPr>
          <p:cNvSpPr/>
          <p:nvPr/>
        </p:nvSpPr>
        <p:spPr>
          <a:xfrm>
            <a:off x="9013779" y="2359152"/>
            <a:ext cx="2626707" cy="2139696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  <p:pic>
        <p:nvPicPr>
          <p:cNvPr id="18" name="Picture 17" descr="A logo of a company&#10;&#10;AI-generated content may be incorrect.">
            <a:extLst>
              <a:ext uri="{FF2B5EF4-FFF2-40B4-BE49-F238E27FC236}">
                <a16:creationId xmlns:a16="http://schemas.microsoft.com/office/drawing/2014/main" id="{CD5BAEC4-3051-99CD-9BAF-5F27BD80E3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444" y="5858037"/>
            <a:ext cx="954556" cy="95455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C603FC74-C02A-3E54-9175-E05AA260F363}"/>
              </a:ext>
            </a:extLst>
          </p:cNvPr>
          <p:cNvSpPr/>
          <p:nvPr/>
        </p:nvSpPr>
        <p:spPr>
          <a:xfrm>
            <a:off x="312658" y="2818494"/>
            <a:ext cx="273892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vi-VN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1.</a:t>
            </a:r>
            <a:r>
              <a:rPr lang="vi-VN" sz="1800" dirty="0">
                <a:effectLst/>
                <a:latin typeface="+mj-lt"/>
                <a:ea typeface="Arial" panose="020B0604020202020204" pitchFamily="34" charset="0"/>
              </a:rPr>
              <a:t> </a:t>
            </a:r>
            <a:r>
              <a:rPr lang="vi-VN" sz="2000" dirty="0">
                <a:effectLst/>
                <a:latin typeface="+mj-lt"/>
                <a:ea typeface="Arial" panose="020B0604020202020204" pitchFamily="34" charset="0"/>
              </a:rPr>
              <a:t>Tạo BLoC class với events và states</a:t>
            </a:r>
            <a:endParaRPr lang="en-US" sz="22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96AC91-99C0-0A28-3459-F5CD5CC3ECE8}"/>
              </a:ext>
            </a:extLst>
          </p:cNvPr>
          <p:cNvSpPr/>
          <p:nvPr/>
        </p:nvSpPr>
        <p:spPr>
          <a:xfrm>
            <a:off x="3241748" y="2818494"/>
            <a:ext cx="256756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vi-VN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vi-VN" sz="20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BlocBuilder và BlocListener </a:t>
            </a:r>
            <a:r>
              <a:rPr lang="en-US" sz="2000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W</a:t>
            </a:r>
            <a:r>
              <a:rPr lang="vi-VN" sz="20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idgets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55CBC9B-E9C3-0AD5-614B-9982E246848D}"/>
              </a:ext>
            </a:extLst>
          </p:cNvPr>
          <p:cNvSpPr/>
          <p:nvPr/>
        </p:nvSpPr>
        <p:spPr>
          <a:xfrm>
            <a:off x="6059892" y="2818494"/>
            <a:ext cx="266281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2000" dirty="0"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  <a:p>
            <a:pPr algn="ctr"/>
            <a:r>
              <a:rPr lang="vi-VN" sz="2000" dirty="0"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3.</a:t>
            </a:r>
            <a:r>
              <a:rPr lang="vi-VN" sz="20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Event handling và state transitions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A86DB63-8C7F-07CF-E67A-ADC2EEBEF22C}"/>
              </a:ext>
            </a:extLst>
          </p:cNvPr>
          <p:cNvSpPr/>
          <p:nvPr/>
        </p:nvSpPr>
        <p:spPr>
          <a:xfrm>
            <a:off x="9045501" y="2833453"/>
            <a:ext cx="259498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ea typeface="Aptos"/>
                <a:cs typeface="Times New Roman" panose="02020603050405020304" pitchFamily="18" charset="0"/>
              </a:rPr>
              <a:t>  </a:t>
            </a:r>
          </a:p>
          <a:p>
            <a:pPr algn="ctr"/>
            <a:r>
              <a:rPr lang="vi-VN" sz="2000" dirty="0">
                <a:latin typeface="+mj-lt"/>
                <a:ea typeface="Aptos"/>
                <a:cs typeface="Times New Roman" panose="02020603050405020304" pitchFamily="18" charset="0"/>
              </a:rPr>
              <a:t>4.</a:t>
            </a:r>
            <a:r>
              <a:rPr lang="vi-VN" sz="2000" dirty="0">
                <a:effectLst/>
                <a:latin typeface="+mj-lt"/>
                <a:ea typeface="Arial" panose="020B0604020202020204" pitchFamily="34" charset="0"/>
              </a:rPr>
              <a:t> Testing BLoC với bloc_test</a:t>
            </a: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46151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FC185-35A1-135B-3C40-584AF329C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577F4-F50C-E59B-4B47-F39B03D0B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54" y="432623"/>
            <a:ext cx="4862676" cy="1484671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3.1</a:t>
            </a:r>
            <a:r>
              <a:rPr lang="vi-VN" b="1" dirty="0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.</a:t>
            </a:r>
            <a:r>
              <a:rPr lang="en-US" b="1" dirty="0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 Event handling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DFD2A3B-6F26-ADFC-89A6-6AC3F2E5E5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254476"/>
            <a:ext cx="3451167" cy="284821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vi-VN" sz="24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BLoC nhận </a:t>
            </a:r>
            <a:r>
              <a:rPr lang="vi-VN" sz="24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Event</a:t>
            </a:r>
            <a:r>
              <a:rPr lang="vi-VN" sz="24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 từ UI hoặc các logic khác và thực hiện xử lý tương ứng.</a:t>
            </a:r>
            <a:endParaRPr lang="en-US" sz="2400" dirty="0">
              <a:effectLst/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logo of a company&#10;&#10;AI-generated content may be incorrect.">
            <a:extLst>
              <a:ext uri="{FF2B5EF4-FFF2-40B4-BE49-F238E27FC236}">
                <a16:creationId xmlns:a16="http://schemas.microsoft.com/office/drawing/2014/main" id="{A999B8F1-7031-F146-5F51-F96DF2C3D6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444" y="5858037"/>
            <a:ext cx="954556" cy="954556"/>
          </a:xfrm>
          <a:prstGeom prst="rect">
            <a:avLst/>
          </a:prstGeom>
        </p:spPr>
      </p:pic>
      <p:sp>
        <p:nvSpPr>
          <p:cNvPr id="12" name="Rectangle 6">
            <a:extLst>
              <a:ext uri="{FF2B5EF4-FFF2-40B4-BE49-F238E27FC236}">
                <a16:creationId xmlns:a16="http://schemas.microsoft.com/office/drawing/2014/main" id="{CEBE491E-C6B3-86DC-5FB3-16C1491BF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1637"/>
            <a:ext cx="7253909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Cơ chế: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BLoC phát state mới → BlocBuilder nhận → gọi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builder()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UI cập nhật.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903E3498-5807-307A-41E5-CD65345054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515" y="1669496"/>
            <a:ext cx="6847781" cy="4357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263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9A8D5-2F8F-5729-1A08-09372EB43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9818E-84F7-9773-3A06-811268AFB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17" y="442454"/>
            <a:ext cx="5633884" cy="1406014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3.2. State transitions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650446D-5719-1677-F5A1-F54824A9E7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82530"/>
            <a:ext cx="3451167" cy="33201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vi-VN" sz="24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Sau khi xử lý Event, BLoC emit </a:t>
            </a:r>
            <a:r>
              <a:rPr lang="vi-VN" sz="24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State mới</a:t>
            </a:r>
            <a:r>
              <a:rPr lang="vi-VN" sz="24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, UI hoặc listener nhận state này để </a:t>
            </a:r>
            <a:r>
              <a:rPr lang="vi-VN" sz="24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cập nhật giao diện hoặc thực hiện side effects</a:t>
            </a:r>
            <a:r>
              <a:rPr lang="vi-VN" sz="24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logo of a company&#10;&#10;AI-generated content may be incorrect.">
            <a:extLst>
              <a:ext uri="{FF2B5EF4-FFF2-40B4-BE49-F238E27FC236}">
                <a16:creationId xmlns:a16="http://schemas.microsoft.com/office/drawing/2014/main" id="{CAC79C8F-E2B6-1B89-6434-F67ACC5B41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444" y="5858037"/>
            <a:ext cx="954556" cy="954556"/>
          </a:xfrm>
          <a:prstGeom prst="rect">
            <a:avLst/>
          </a:prstGeom>
        </p:spPr>
      </p:pic>
      <p:sp>
        <p:nvSpPr>
          <p:cNvPr id="12" name="Rectangle 6">
            <a:extLst>
              <a:ext uri="{FF2B5EF4-FFF2-40B4-BE49-F238E27FC236}">
                <a16:creationId xmlns:a16="http://schemas.microsoft.com/office/drawing/2014/main" id="{D5066A7E-95AE-30B8-F2E4-9C22BCCB3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1637"/>
            <a:ext cx="7253909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Cơ chế: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BLoC phát state mới → BlocBuilder nhận → gọi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builder()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UI cập nhật.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AA45B7-B60E-7054-BBB4-69ED0F3DC1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7212" y="1566670"/>
            <a:ext cx="6832387" cy="476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677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20C0-67AD-90A7-4A01-1894DB1BC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BAF94-5C56-2310-FCE4-2722F7561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472" y="216308"/>
            <a:ext cx="4312070" cy="1789471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3.3. UI Response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55E8159-AADC-50CC-62F7-955E916AA8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9266" y="2583724"/>
            <a:ext cx="3660102" cy="35189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hồi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 :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Khi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AuthLoading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vòng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tròn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Khi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AuthAuthenticated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sang Home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Khi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AuthError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Snackbar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Login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logo of a company&#10;&#10;AI-generated content may be incorrect.">
            <a:extLst>
              <a:ext uri="{FF2B5EF4-FFF2-40B4-BE49-F238E27FC236}">
                <a16:creationId xmlns:a16="http://schemas.microsoft.com/office/drawing/2014/main" id="{FBD981B1-AE8A-1FD6-F07B-0F49E00DD2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444" y="5858037"/>
            <a:ext cx="954556" cy="954556"/>
          </a:xfrm>
          <a:prstGeom prst="rect">
            <a:avLst/>
          </a:prstGeom>
        </p:spPr>
      </p:pic>
      <p:sp>
        <p:nvSpPr>
          <p:cNvPr id="12" name="Rectangle 6">
            <a:extLst>
              <a:ext uri="{FF2B5EF4-FFF2-40B4-BE49-F238E27FC236}">
                <a16:creationId xmlns:a16="http://schemas.microsoft.com/office/drawing/2014/main" id="{8C18995A-25AE-7351-F1C1-136E36FBD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1637"/>
            <a:ext cx="7253909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Cơ chế: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BLoC phát state mới → BlocBuilder nhận → gọi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builder()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UI cập nhật.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2631F6F6-A0B9-CD6C-B5EA-EFCE8D1C6D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987" y="989304"/>
            <a:ext cx="6044794" cy="572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35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1B89B-AC8D-D8BC-15EB-C728E6170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1BAD3-DBF3-3DE6-6460-80CD11241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415DF-7AAC-D8C5-2417-ABE818194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/>
              <a:t> 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47C228-776B-1DC6-8563-36E3FC53163E}"/>
              </a:ext>
            </a:extLst>
          </p:cNvPr>
          <p:cNvSpPr txBox="1">
            <a:spLocks/>
          </p:cNvSpPr>
          <p:nvPr/>
        </p:nvSpPr>
        <p:spPr>
          <a:xfrm>
            <a:off x="803031" y="1019906"/>
            <a:ext cx="4753708" cy="9865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/>
              <a:t> 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62307B2-51E4-841F-D854-9AF3636249E1}"/>
              </a:ext>
            </a:extLst>
          </p:cNvPr>
          <p:cNvSpPr txBox="1">
            <a:spLocks/>
          </p:cNvSpPr>
          <p:nvPr/>
        </p:nvSpPr>
        <p:spPr>
          <a:xfrm>
            <a:off x="1524000" y="2006477"/>
            <a:ext cx="4667250" cy="3251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 </a:t>
            </a:r>
          </a:p>
        </p:txBody>
      </p:sp>
      <p:sp>
        <p:nvSpPr>
          <p:cNvPr id="6" name="Tiêu đề 1">
            <a:extLst>
              <a:ext uri="{FF2B5EF4-FFF2-40B4-BE49-F238E27FC236}">
                <a16:creationId xmlns:a16="http://schemas.microsoft.com/office/drawing/2014/main" id="{DF174955-9C1A-6BC9-A7C4-58EBF5DA77DF}"/>
              </a:ext>
            </a:extLst>
          </p:cNvPr>
          <p:cNvSpPr txBox="1">
            <a:spLocks/>
          </p:cNvSpPr>
          <p:nvPr/>
        </p:nvSpPr>
        <p:spPr>
          <a:xfrm>
            <a:off x="2826922" y="435768"/>
            <a:ext cx="6601602" cy="151926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Nhóm 9">
            <a:extLst>
              <a:ext uri="{FF2B5EF4-FFF2-40B4-BE49-F238E27FC236}">
                <a16:creationId xmlns:a16="http://schemas.microsoft.com/office/drawing/2014/main" id="{4FC31CE1-1161-2FB0-77B1-848D0B737422}"/>
              </a:ext>
            </a:extLst>
          </p:cNvPr>
          <p:cNvGrpSpPr/>
          <p:nvPr/>
        </p:nvGrpSpPr>
        <p:grpSpPr>
          <a:xfrm>
            <a:off x="3287274" y="2359152"/>
            <a:ext cx="2485932" cy="2139696"/>
            <a:chOff x="3097314" y="2359152"/>
            <a:chExt cx="2455007" cy="2139696"/>
          </a:xfrm>
        </p:grpSpPr>
        <p:sp>
          <p:nvSpPr>
            <p:cNvPr id="8" name="Hình chữ nhật 7">
              <a:extLst>
                <a:ext uri="{FF2B5EF4-FFF2-40B4-BE49-F238E27FC236}">
                  <a16:creationId xmlns:a16="http://schemas.microsoft.com/office/drawing/2014/main" id="{D453EA36-7C27-035D-DDCC-65459CEF9C5C}"/>
                </a:ext>
              </a:extLst>
            </p:cNvPr>
            <p:cNvSpPr/>
            <p:nvPr/>
          </p:nvSpPr>
          <p:spPr>
            <a:xfrm>
              <a:off x="3097314" y="2359152"/>
              <a:ext cx="2455007" cy="213969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762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" name="Hộp Văn bản 8">
              <a:extLst>
                <a:ext uri="{FF2B5EF4-FFF2-40B4-BE49-F238E27FC236}">
                  <a16:creationId xmlns:a16="http://schemas.microsoft.com/office/drawing/2014/main" id="{91D5A5CC-35B3-A1BC-4B65-595669DA6485}"/>
                </a:ext>
              </a:extLst>
            </p:cNvPr>
            <p:cNvSpPr txBox="1"/>
            <p:nvPr/>
          </p:nvSpPr>
          <p:spPr>
            <a:xfrm>
              <a:off x="3161172" y="2941605"/>
              <a:ext cx="230761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0" name="Nhóm 11">
            <a:extLst>
              <a:ext uri="{FF2B5EF4-FFF2-40B4-BE49-F238E27FC236}">
                <a16:creationId xmlns:a16="http://schemas.microsoft.com/office/drawing/2014/main" id="{24277173-815C-404D-2E86-CC4299469335}"/>
              </a:ext>
            </a:extLst>
          </p:cNvPr>
          <p:cNvGrpSpPr/>
          <p:nvPr/>
        </p:nvGrpSpPr>
        <p:grpSpPr>
          <a:xfrm>
            <a:off x="6096000" y="2359152"/>
            <a:ext cx="2626707" cy="2139696"/>
            <a:chOff x="6267700" y="2359152"/>
            <a:chExt cx="2455007" cy="2139696"/>
          </a:xfrm>
        </p:grpSpPr>
        <p:sp>
          <p:nvSpPr>
            <p:cNvPr id="11" name="Hình chữ nhật 5">
              <a:extLst>
                <a:ext uri="{FF2B5EF4-FFF2-40B4-BE49-F238E27FC236}">
                  <a16:creationId xmlns:a16="http://schemas.microsoft.com/office/drawing/2014/main" id="{DA32EFDD-7A53-8164-2469-3352AB9441DB}"/>
                </a:ext>
              </a:extLst>
            </p:cNvPr>
            <p:cNvSpPr/>
            <p:nvPr/>
          </p:nvSpPr>
          <p:spPr>
            <a:xfrm>
              <a:off x="6267700" y="2359152"/>
              <a:ext cx="2455007" cy="213969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762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2" name="Hộp Văn bản 10">
              <a:extLst>
                <a:ext uri="{FF2B5EF4-FFF2-40B4-BE49-F238E27FC236}">
                  <a16:creationId xmlns:a16="http://schemas.microsoft.com/office/drawing/2014/main" id="{27811071-4816-B73E-151F-6E4CC6FF600C}"/>
                </a:ext>
              </a:extLst>
            </p:cNvPr>
            <p:cNvSpPr txBox="1"/>
            <p:nvPr/>
          </p:nvSpPr>
          <p:spPr>
            <a:xfrm>
              <a:off x="6297349" y="2787163"/>
              <a:ext cx="235070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Nhóm 13">
            <a:extLst>
              <a:ext uri="{FF2B5EF4-FFF2-40B4-BE49-F238E27FC236}">
                <a16:creationId xmlns:a16="http://schemas.microsoft.com/office/drawing/2014/main" id="{2B7E9FF6-FF5E-0CD6-F455-CFE0EC9A69AE}"/>
              </a:ext>
            </a:extLst>
          </p:cNvPr>
          <p:cNvGrpSpPr/>
          <p:nvPr/>
        </p:nvGrpSpPr>
        <p:grpSpPr>
          <a:xfrm>
            <a:off x="422487" y="2359152"/>
            <a:ext cx="2519267" cy="2139696"/>
            <a:chOff x="422487" y="2359152"/>
            <a:chExt cx="2455007" cy="2139696"/>
          </a:xfrm>
        </p:grpSpPr>
        <p:sp>
          <p:nvSpPr>
            <p:cNvPr id="14" name="Hình chữ nhật 4">
              <a:extLst>
                <a:ext uri="{FF2B5EF4-FFF2-40B4-BE49-F238E27FC236}">
                  <a16:creationId xmlns:a16="http://schemas.microsoft.com/office/drawing/2014/main" id="{28A710EC-49CC-3D15-6971-104E51487657}"/>
                </a:ext>
              </a:extLst>
            </p:cNvPr>
            <p:cNvSpPr/>
            <p:nvPr/>
          </p:nvSpPr>
          <p:spPr>
            <a:xfrm>
              <a:off x="422487" y="2359152"/>
              <a:ext cx="2455007" cy="213969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762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" name="Hộp Văn bản 12">
              <a:extLst>
                <a:ext uri="{FF2B5EF4-FFF2-40B4-BE49-F238E27FC236}">
                  <a16:creationId xmlns:a16="http://schemas.microsoft.com/office/drawing/2014/main" id="{3239BD25-9DEF-1E67-65C4-BBFEF9313234}"/>
                </a:ext>
              </a:extLst>
            </p:cNvPr>
            <p:cNvSpPr txBox="1"/>
            <p:nvPr/>
          </p:nvSpPr>
          <p:spPr>
            <a:xfrm>
              <a:off x="599863" y="2941605"/>
              <a:ext cx="208414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6" name="Hình chữ nhật 5">
            <a:extLst>
              <a:ext uri="{FF2B5EF4-FFF2-40B4-BE49-F238E27FC236}">
                <a16:creationId xmlns:a16="http://schemas.microsoft.com/office/drawing/2014/main" id="{E2DA1AA5-8DFD-9832-CF2C-A733E9A5FB5D}"/>
              </a:ext>
            </a:extLst>
          </p:cNvPr>
          <p:cNvSpPr/>
          <p:nvPr/>
        </p:nvSpPr>
        <p:spPr>
          <a:xfrm>
            <a:off x="9013779" y="2359152"/>
            <a:ext cx="2626707" cy="2139696"/>
          </a:xfrm>
          <a:prstGeom prst="rec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  <p:pic>
        <p:nvPicPr>
          <p:cNvPr id="18" name="Picture 17" descr="A logo of a company&#10;&#10;AI-generated content may be incorrect.">
            <a:extLst>
              <a:ext uri="{FF2B5EF4-FFF2-40B4-BE49-F238E27FC236}">
                <a16:creationId xmlns:a16="http://schemas.microsoft.com/office/drawing/2014/main" id="{17C1EBB1-1DBF-0823-1BD0-6D4877EF65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444" y="5858037"/>
            <a:ext cx="954556" cy="95455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F17DCAD3-6562-75AB-2E25-EEC8D0F9051A}"/>
              </a:ext>
            </a:extLst>
          </p:cNvPr>
          <p:cNvSpPr/>
          <p:nvPr/>
        </p:nvSpPr>
        <p:spPr>
          <a:xfrm>
            <a:off x="312658" y="2818494"/>
            <a:ext cx="273892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vi-VN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1.</a:t>
            </a:r>
            <a:r>
              <a:rPr lang="vi-VN" sz="1800" dirty="0">
                <a:effectLst/>
                <a:latin typeface="+mj-lt"/>
                <a:ea typeface="Arial" panose="020B0604020202020204" pitchFamily="34" charset="0"/>
              </a:rPr>
              <a:t> </a:t>
            </a:r>
            <a:r>
              <a:rPr lang="vi-VN" sz="2000" dirty="0">
                <a:effectLst/>
                <a:latin typeface="+mj-lt"/>
                <a:ea typeface="Arial" panose="020B0604020202020204" pitchFamily="34" charset="0"/>
              </a:rPr>
              <a:t>Tạo BLoC class với events và states</a:t>
            </a:r>
            <a:endParaRPr lang="en-US" sz="22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EF771B0-C09B-B092-6D0A-BFA7127A8416}"/>
              </a:ext>
            </a:extLst>
          </p:cNvPr>
          <p:cNvSpPr/>
          <p:nvPr/>
        </p:nvSpPr>
        <p:spPr>
          <a:xfrm>
            <a:off x="3241748" y="2818494"/>
            <a:ext cx="256756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2000" dirty="0">
              <a:ea typeface="Times New Roman" panose="02020603050405020304" pitchFamily="18" charset="0"/>
            </a:endParaRPr>
          </a:p>
          <a:p>
            <a:pPr algn="ctr"/>
            <a:r>
              <a:rPr lang="vi-VN" sz="2000" dirty="0">
                <a:latin typeface="+mj-lt"/>
                <a:ea typeface="Times New Roman" panose="02020603050405020304" pitchFamily="18" charset="0"/>
              </a:rPr>
              <a:t>2.</a:t>
            </a:r>
            <a:r>
              <a:rPr lang="vi-VN" sz="2000" dirty="0">
                <a:effectLst/>
                <a:latin typeface="+mj-lt"/>
                <a:ea typeface="Arial" panose="020B0604020202020204" pitchFamily="34" charset="0"/>
              </a:rPr>
              <a:t> BlocBuilder và BlocListener </a:t>
            </a:r>
            <a:r>
              <a:rPr lang="en-US" sz="2000" dirty="0">
                <a:latin typeface="+mj-lt"/>
                <a:ea typeface="Arial" panose="020B0604020202020204" pitchFamily="34" charset="0"/>
              </a:rPr>
              <a:t>W</a:t>
            </a:r>
            <a:r>
              <a:rPr lang="vi-VN" sz="2000" dirty="0">
                <a:effectLst/>
                <a:latin typeface="+mj-lt"/>
                <a:ea typeface="Arial" panose="020B0604020202020204" pitchFamily="34" charset="0"/>
              </a:rPr>
              <a:t>idgets</a:t>
            </a:r>
            <a:endParaRPr lang="en-US" sz="2000" dirty="0">
              <a:latin typeface="+mj-lt"/>
              <a:ea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4CD71A1-9FD8-A38B-0BA5-85997CBEA5D1}"/>
              </a:ext>
            </a:extLst>
          </p:cNvPr>
          <p:cNvSpPr/>
          <p:nvPr/>
        </p:nvSpPr>
        <p:spPr>
          <a:xfrm>
            <a:off x="6059892" y="2818494"/>
            <a:ext cx="266281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2000" dirty="0"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  <a:p>
            <a:pPr algn="ctr"/>
            <a:r>
              <a:rPr lang="vi-VN" sz="2000" dirty="0"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3.</a:t>
            </a:r>
            <a:r>
              <a:rPr lang="vi-VN" sz="20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Event handling và state transitions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956570D-A27D-CCB4-B7E5-0477900DACCE}"/>
              </a:ext>
            </a:extLst>
          </p:cNvPr>
          <p:cNvSpPr/>
          <p:nvPr/>
        </p:nvSpPr>
        <p:spPr>
          <a:xfrm>
            <a:off x="9045501" y="2833453"/>
            <a:ext cx="259498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ea typeface="Aptos"/>
                <a:cs typeface="Times New Roman" panose="02020603050405020304" pitchFamily="18" charset="0"/>
              </a:rPr>
              <a:t>  </a:t>
            </a:r>
          </a:p>
          <a:p>
            <a:pPr algn="ctr"/>
            <a:r>
              <a:rPr lang="vi-VN" sz="2000" dirty="0">
                <a:latin typeface="+mj-lt"/>
                <a:ea typeface="Aptos"/>
                <a:cs typeface="Times New Roman" panose="02020603050405020304" pitchFamily="18" charset="0"/>
              </a:rPr>
              <a:t>4.</a:t>
            </a:r>
            <a:r>
              <a:rPr lang="vi-VN" sz="2000" dirty="0">
                <a:effectLst/>
                <a:latin typeface="+mj-lt"/>
                <a:ea typeface="Arial" panose="020B0604020202020204" pitchFamily="34" charset="0"/>
              </a:rPr>
              <a:t> Testing BLoC với bloc_test</a:t>
            </a: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29244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4CB62-9DF6-8E23-076C-97E28F8EE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BBCBE-5AF7-F179-59C2-2217C0935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472" y="216308"/>
            <a:ext cx="4312070" cy="1789471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đích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logo of a company&#10;&#10;AI-generated content may be incorrect.">
            <a:extLst>
              <a:ext uri="{FF2B5EF4-FFF2-40B4-BE49-F238E27FC236}">
                <a16:creationId xmlns:a16="http://schemas.microsoft.com/office/drawing/2014/main" id="{BE39F653-51CC-B8B8-1F8A-B6DB598FD8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444" y="5858037"/>
            <a:ext cx="954556" cy="954556"/>
          </a:xfrm>
          <a:prstGeom prst="rect">
            <a:avLst/>
          </a:prstGeom>
        </p:spPr>
      </p:pic>
      <p:sp>
        <p:nvSpPr>
          <p:cNvPr id="12" name="Rectangle 6">
            <a:extLst>
              <a:ext uri="{FF2B5EF4-FFF2-40B4-BE49-F238E27FC236}">
                <a16:creationId xmlns:a16="http://schemas.microsoft.com/office/drawing/2014/main" id="{90FF7860-5EF2-12EA-9664-7CF46CE54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1637"/>
            <a:ext cx="7253909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Cơ chế: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BLoC phát state mới → BlocBuilder nhận → gọi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builder()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UI cập nhật.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366804-9F60-F26E-A16D-5DE55AC23FD0}"/>
              </a:ext>
            </a:extLst>
          </p:cNvPr>
          <p:cNvSpPr txBox="1"/>
          <p:nvPr/>
        </p:nvSpPr>
        <p:spPr>
          <a:xfrm>
            <a:off x="821407" y="2583724"/>
            <a:ext cx="10549185" cy="2328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BLoC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event,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logic, emit state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sớm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business logic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UI.</a:t>
            </a:r>
            <a:endParaRPr lang="en-US" sz="28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lvl="1" fontAlgn="base">
              <a:lnSpc>
                <a:spcPct val="130000"/>
              </a:lnSpc>
            </a:pPr>
            <a:endParaRPr lang="vi-VN" sz="36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2492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14F91-9421-DD7E-EA87-0864E1AAC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5B775-2141-A4C8-B223-409D7137F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472" y="216308"/>
            <a:ext cx="5830528" cy="1818969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4.2. Package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bloc_test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logo of a company&#10;&#10;AI-generated content may be incorrect.">
            <a:extLst>
              <a:ext uri="{FF2B5EF4-FFF2-40B4-BE49-F238E27FC236}">
                <a16:creationId xmlns:a16="http://schemas.microsoft.com/office/drawing/2014/main" id="{7F05D0EA-FF68-3EF2-F20E-92C29E0C51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444" y="5858037"/>
            <a:ext cx="954556" cy="954556"/>
          </a:xfrm>
          <a:prstGeom prst="rect">
            <a:avLst/>
          </a:prstGeom>
        </p:spPr>
      </p:pic>
      <p:sp>
        <p:nvSpPr>
          <p:cNvPr id="12" name="Rectangle 6">
            <a:extLst>
              <a:ext uri="{FF2B5EF4-FFF2-40B4-BE49-F238E27FC236}">
                <a16:creationId xmlns:a16="http://schemas.microsoft.com/office/drawing/2014/main" id="{1040C983-D3A3-F590-B060-D253D2684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1637"/>
            <a:ext cx="7253909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Cơ chế: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BLoC phát state mới → BlocBuilder nhận → gọi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builder()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UI cập nhật.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6108E1-AC89-1AC1-F305-8EEB50F1998F}"/>
              </a:ext>
            </a:extLst>
          </p:cNvPr>
          <p:cNvSpPr txBox="1"/>
          <p:nvPr/>
        </p:nvSpPr>
        <p:spPr>
          <a:xfrm>
            <a:off x="821407" y="2426408"/>
            <a:ext cx="10549185" cy="2776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package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test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BLoC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ngắn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gọn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ràng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Cung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blocTest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BLoC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sz="16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event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BLoC</a:t>
            </a:r>
            <a:endParaRPr lang="en-US" sz="16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state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emit</a:t>
            </a:r>
            <a:endParaRPr lang="en-US" sz="16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947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6C3B-E419-D566-FA73-3E5D30B39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96A60-654B-6B0F-4CAA-3D0008807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472" y="216308"/>
            <a:ext cx="5830528" cy="1818969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4.3.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pic>
        <p:nvPicPr>
          <p:cNvPr id="4" name="Picture 3" descr="A logo of a company&#10;&#10;AI-generated content may be incorrect.">
            <a:extLst>
              <a:ext uri="{FF2B5EF4-FFF2-40B4-BE49-F238E27FC236}">
                <a16:creationId xmlns:a16="http://schemas.microsoft.com/office/drawing/2014/main" id="{CF7D84E8-6CC5-3854-F35D-C0419AF45D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444" y="5858037"/>
            <a:ext cx="954556" cy="954556"/>
          </a:xfrm>
          <a:prstGeom prst="rect">
            <a:avLst/>
          </a:prstGeom>
        </p:spPr>
      </p:pic>
      <p:sp>
        <p:nvSpPr>
          <p:cNvPr id="12" name="Rectangle 6">
            <a:extLst>
              <a:ext uri="{FF2B5EF4-FFF2-40B4-BE49-F238E27FC236}">
                <a16:creationId xmlns:a16="http://schemas.microsoft.com/office/drawing/2014/main" id="{154B65F0-FAC7-0E69-5ADA-9F7CFD467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1637"/>
            <a:ext cx="7253909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Cơ chế: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BLoC phát state mới → BlocBuilder nhận → gọi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builder()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UI cập nhật.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BD5D78-8D0E-F601-E9AE-7AA63CF1C631}"/>
              </a:ext>
            </a:extLst>
          </p:cNvPr>
          <p:cNvSpPr txBox="1"/>
          <p:nvPr/>
        </p:nvSpPr>
        <p:spPr>
          <a:xfrm>
            <a:off x="821407" y="2613222"/>
            <a:ext cx="10549185" cy="2213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Khởi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BLoC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instance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BLoC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test.</a:t>
            </a:r>
            <a:endParaRPr lang="en-US" sz="28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Event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giả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event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BLoC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State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so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sánh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state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emit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mong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đợi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Test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state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test pass,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ngược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fail.</a:t>
            </a:r>
            <a:endParaRPr lang="en-US" sz="28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0117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E3C9D-C8E6-F7AD-6392-E6A9AEBFA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DED6B-6E22-FF7A-CCEE-C3A1770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472" y="216308"/>
            <a:ext cx="5830528" cy="1818969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4.3.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pic>
        <p:nvPicPr>
          <p:cNvPr id="4" name="Picture 3" descr="A logo of a company&#10;&#10;AI-generated content may be incorrect.">
            <a:extLst>
              <a:ext uri="{FF2B5EF4-FFF2-40B4-BE49-F238E27FC236}">
                <a16:creationId xmlns:a16="http://schemas.microsoft.com/office/drawing/2014/main" id="{20F5DA52-9458-E317-158B-D93BB4917A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444" y="5858037"/>
            <a:ext cx="954556" cy="954556"/>
          </a:xfrm>
          <a:prstGeom prst="rect">
            <a:avLst/>
          </a:prstGeom>
        </p:spPr>
      </p:pic>
      <p:sp>
        <p:nvSpPr>
          <p:cNvPr id="12" name="Rectangle 6">
            <a:extLst>
              <a:ext uri="{FF2B5EF4-FFF2-40B4-BE49-F238E27FC236}">
                <a16:creationId xmlns:a16="http://schemas.microsoft.com/office/drawing/2014/main" id="{159EB571-C754-B8D6-0B15-9A60B254B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1637"/>
            <a:ext cx="7253909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Cơ chế: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BLoC phát state mới → BlocBuilder nhận → gọi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builder()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UI cập nhật.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C493CD-E7B3-EA52-5E20-1984C235BE1D}"/>
              </a:ext>
            </a:extLst>
          </p:cNvPr>
          <p:cNvSpPr txBox="1"/>
          <p:nvPr/>
        </p:nvSpPr>
        <p:spPr>
          <a:xfrm>
            <a:off x="821407" y="2613222"/>
            <a:ext cx="10549185" cy="2213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Khởi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BLoC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instance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BLoC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test.</a:t>
            </a:r>
            <a:endParaRPr lang="en-US" sz="28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Event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giả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event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BLoC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State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so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sánh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state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emit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mong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đợi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Test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state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test pass,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ngược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fail.</a:t>
            </a:r>
            <a:endParaRPr lang="en-US" sz="28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0285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A0919-32AD-E4E4-5434-E582E6D8E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39389-D4E2-E634-FEBE-8EF448A20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472" y="216308"/>
            <a:ext cx="5830528" cy="1818969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4.4. Demo bloc_test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logo of a company&#10;&#10;AI-generated content may be incorrect.">
            <a:extLst>
              <a:ext uri="{FF2B5EF4-FFF2-40B4-BE49-F238E27FC236}">
                <a16:creationId xmlns:a16="http://schemas.microsoft.com/office/drawing/2014/main" id="{2EC27264-806F-0F3A-AB47-3E45E6C210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444" y="5858037"/>
            <a:ext cx="954556" cy="954556"/>
          </a:xfrm>
          <a:prstGeom prst="rect">
            <a:avLst/>
          </a:prstGeom>
        </p:spPr>
      </p:pic>
      <p:sp>
        <p:nvSpPr>
          <p:cNvPr id="12" name="Rectangle 6">
            <a:extLst>
              <a:ext uri="{FF2B5EF4-FFF2-40B4-BE49-F238E27FC236}">
                <a16:creationId xmlns:a16="http://schemas.microsoft.com/office/drawing/2014/main" id="{C2A876B2-F6E8-3A9E-0322-7213E11A5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1637"/>
            <a:ext cx="7253909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Cơ chế: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BLoC phát state mới → BlocBuilder nhận → gọi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builder()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UI cập nhật.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" name="Picture 1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99A4EF2A-A156-2ADF-43B7-D843D17D2E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19" y="1550338"/>
            <a:ext cx="4589773" cy="3827907"/>
          </a:xfrm>
          <a:prstGeom prst="rect">
            <a:avLst/>
          </a:prstGeom>
        </p:spPr>
      </p:pic>
      <p:pic>
        <p:nvPicPr>
          <p:cNvPr id="18" name="Picture 17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E4EA0606-21B2-DC95-F1A6-1AE9B6826B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801" y="1550338"/>
            <a:ext cx="6951405" cy="3827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8075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D9CA7-C776-9AAC-0AB4-1893A4318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21CF1-F578-C7A8-8AF5-212AA81D6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472" y="216308"/>
            <a:ext cx="5830528" cy="1818969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4.4. Demo bloc_test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logo of a company&#10;&#10;AI-generated content may be incorrect.">
            <a:extLst>
              <a:ext uri="{FF2B5EF4-FFF2-40B4-BE49-F238E27FC236}">
                <a16:creationId xmlns:a16="http://schemas.microsoft.com/office/drawing/2014/main" id="{B597E933-F903-3C9C-7780-4ED5D2F525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444" y="5858037"/>
            <a:ext cx="954556" cy="954556"/>
          </a:xfrm>
          <a:prstGeom prst="rect">
            <a:avLst/>
          </a:prstGeom>
        </p:spPr>
      </p:pic>
      <p:sp>
        <p:nvSpPr>
          <p:cNvPr id="12" name="Rectangle 6">
            <a:extLst>
              <a:ext uri="{FF2B5EF4-FFF2-40B4-BE49-F238E27FC236}">
                <a16:creationId xmlns:a16="http://schemas.microsoft.com/office/drawing/2014/main" id="{62C25E0E-0517-57CC-65A2-9954CF2D2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1637"/>
            <a:ext cx="7253909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Cơ chế: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BLoC phát state mới → BlocBuilder nhận → gọi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builder()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UI cập nhật.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1950D0-2744-3DB9-40F9-B358E9F78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670" y="3518541"/>
            <a:ext cx="4381500" cy="541020"/>
          </a:xfrm>
          <a:prstGeom prst="rect">
            <a:avLst/>
          </a:prstGeom>
        </p:spPr>
      </p:pic>
      <p:pic>
        <p:nvPicPr>
          <p:cNvPr id="5" name="Picture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4119849D-73A2-58D5-7CD9-3549B5FD3E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30" y="1750142"/>
            <a:ext cx="7480825" cy="4334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4957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2B5B73-0DFA-0977-A343-57C798E0E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78BA5F19-D5E1-4ECC-BEC2-DF7AEDFD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50CC88A9-A661-4C48-866E-8734E511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C7110B-B007-C841-1CEE-0729B68DD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73" y="393380"/>
            <a:ext cx="7655427" cy="7398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8BAD0F1B-DDC5-7CE4-DF29-BCF95E7BE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308" y="2428575"/>
            <a:ext cx="5509537" cy="3099114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A30B0217-1878-B042-CB8C-A2F4EE6B8D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9491" y="2425335"/>
            <a:ext cx="5509537" cy="3099114"/>
          </a:xfrm>
          <a:prstGeom prst="rect">
            <a:avLst/>
          </a:prstGeom>
        </p:spPr>
      </p:pic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CFDF195F-784B-4D00-8C92-6FC1B0499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C4769EB6-E441-52B6-5D5A-ED3C78C23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987" y="2431765"/>
            <a:ext cx="8276026" cy="33200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pic>
        <p:nvPicPr>
          <p:cNvPr id="4" name="Picture 3" descr="A logo of a company&#10;&#10;AI-generated content may be incorrect.">
            <a:extLst>
              <a:ext uri="{FF2B5EF4-FFF2-40B4-BE49-F238E27FC236}">
                <a16:creationId xmlns:a16="http://schemas.microsoft.com/office/drawing/2014/main" id="{009D4E3A-4550-3587-6F22-6DDCFE2876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444" y="5858037"/>
            <a:ext cx="954556" cy="95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0902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549B30-E42B-D265-BF48-3806FC9CD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78BA5F19-D5E1-4ECC-BEC2-DF7AEDFD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50CC88A9-A661-4C48-866E-8734E511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B0D5BC-FE94-59F5-0307-15B081537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73" y="393380"/>
            <a:ext cx="7655427" cy="7398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</a:p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94684DAD-534C-CE2E-7EA0-1D27C5317A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537856"/>
            <a:ext cx="5719076" cy="3216980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F5F9FAA6-B86F-0DCC-C6A8-8817512EFD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3" y="2534816"/>
            <a:ext cx="5719076" cy="3216980"/>
          </a:xfrm>
          <a:prstGeom prst="rect">
            <a:avLst/>
          </a:prstGeom>
        </p:spPr>
      </p:pic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CFDF195F-784B-4D00-8C92-6FC1B0499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11EEDBF1-C397-924B-024C-B9D931C74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987" y="2431765"/>
            <a:ext cx="8276026" cy="33200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pic>
        <p:nvPicPr>
          <p:cNvPr id="4" name="Picture 3" descr="A logo of a company&#10;&#10;AI-generated content may be incorrect.">
            <a:extLst>
              <a:ext uri="{FF2B5EF4-FFF2-40B4-BE49-F238E27FC236}">
                <a16:creationId xmlns:a16="http://schemas.microsoft.com/office/drawing/2014/main" id="{C9905175-4EED-EEA4-D32A-8564BC0B24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444" y="5858037"/>
            <a:ext cx="954556" cy="95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5615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DACE4-D3BC-D14F-6F10-4B5559D06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5EC67-D094-49BF-AA1D-C1437B7DA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 algn="ctr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>
                <a:effectLst/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US" dirty="0">
              <a:effectLst/>
              <a:latin typeface="+mj-lt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0" marR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>
                <a:effectLst/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[1]</a:t>
            </a:r>
            <a:r>
              <a:rPr lang="vi-VN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u="sng" dirty="0">
                <a:solidFill>
                  <a:srgbClr val="0563C1"/>
                </a:solidFill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  <a:hlinkClick r:id="rId3"/>
              </a:rPr>
              <a:t>https://bloclibrary.dev/flutter-bloc-concepts/#bloclistener</a:t>
            </a:r>
            <a:r>
              <a:rPr lang="vi-VN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effectLst/>
              <a:latin typeface="+mj-lt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0" marR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>
                <a:effectLst/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[2] </a:t>
            </a:r>
            <a:r>
              <a:rPr lang="vi-VN" u="sng" dirty="0">
                <a:solidFill>
                  <a:srgbClr val="0563C1"/>
                </a:solidFill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  <a:hlinkClick r:id="rId4"/>
              </a:rPr>
              <a:t>https://viblo.asia/p/su-dung-bloc-trong-flutter-de-quan-ly-state</a:t>
            </a:r>
            <a:r>
              <a:rPr lang="vi-VN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effectLst/>
              <a:latin typeface="+mj-lt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0" marR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>
                <a:effectLst/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[3]</a:t>
            </a:r>
            <a:r>
              <a:rPr lang="vi-VN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u="sng" dirty="0">
                <a:solidFill>
                  <a:srgbClr val="0563C1"/>
                </a:solidFill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  <a:hlinkClick r:id="rId5"/>
              </a:rPr>
              <a:t>https://www.studocu.vn/vn/document/ mo-hinh-bloc-trong-flutter-quan-ly-trang-thai-hieu-qua</a:t>
            </a:r>
            <a:endParaRPr lang="en-US" dirty="0">
              <a:effectLst/>
              <a:latin typeface="+mj-lt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logo of a company&#10;&#10;AI-generated content may be incorrect.">
            <a:extLst>
              <a:ext uri="{FF2B5EF4-FFF2-40B4-BE49-F238E27FC236}">
                <a16:creationId xmlns:a16="http://schemas.microsoft.com/office/drawing/2014/main" id="{ABDD69B4-BA41-D41A-F72B-FE0B3BCD4DD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444" y="5858037"/>
            <a:ext cx="954556" cy="95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7127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074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fc2d97c-f157-4d5f-a344-1f9c94e44560">
      <Terms xmlns="http://schemas.microsoft.com/office/infopath/2007/PartnerControls"/>
    </lcf76f155ced4ddcb4097134ff3c332f>
    <TaxCatchAll xmlns="42f2206f-91ae-4741-9813-edbb31cf99a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F6614CC20C2341913E41528EE4FF97" ma:contentTypeVersion="10" ma:contentTypeDescription="Create a new document." ma:contentTypeScope="" ma:versionID="b40676470cc045035f9d286f2cd3f26e">
  <xsd:schema xmlns:xsd="http://www.w3.org/2001/XMLSchema" xmlns:xs="http://www.w3.org/2001/XMLSchema" xmlns:p="http://schemas.microsoft.com/office/2006/metadata/properties" xmlns:ns2="8fc2d97c-f157-4d5f-a344-1f9c94e44560" xmlns:ns3="42f2206f-91ae-4741-9813-edbb31cf99af" targetNamespace="http://schemas.microsoft.com/office/2006/metadata/properties" ma:root="true" ma:fieldsID="0cffd56ac440fb7554c278387cc366f1" ns2:_="" ns3:_="">
    <xsd:import namespace="8fc2d97c-f157-4d5f-a344-1f9c94e44560"/>
    <xsd:import namespace="42f2206f-91ae-4741-9813-edbb31cf99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c2d97c-f157-4d5f-a344-1f9c94e445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ee44079-f624-4777-a56c-7b7b0d20bf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f2206f-91ae-4741-9813-edbb31cf99a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84c5937-dea3-45c3-a6d9-fb7a5347a09c}" ma:internalName="TaxCatchAll" ma:showField="CatchAllData" ma:web="42f2206f-91ae-4741-9813-edbb31cf99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6A96E9B-63D3-4AA0-AD5B-21734BD577A3}">
  <ds:schemaRefs>
    <ds:schemaRef ds:uri="8fc2d97c-f157-4d5f-a344-1f9c94e44560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42f2206f-91ae-4741-9813-edbb31cf99af"/>
    <ds:schemaRef ds:uri="http://purl.org/dc/dcmitype/"/>
    <ds:schemaRef ds:uri="http://purl.org/dc/elements/1.1/"/>
    <ds:schemaRef ds:uri="http://purl.org/dc/terms/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5161603D-3AA2-455F-8950-90C18DB3825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A2C832-DD47-4715-8E73-A0AEFF9B6D2F}">
  <ds:schemaRefs>
    <ds:schemaRef ds:uri="42f2206f-91ae-4741-9813-edbb31cf99af"/>
    <ds:schemaRef ds:uri="8fc2d97c-f157-4d5f-a344-1f9c94e4456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1312</Words>
  <Application>Microsoft Office PowerPoint</Application>
  <PresentationFormat>Widescreen</PresentationFormat>
  <Paragraphs>166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Aptos</vt:lpstr>
      <vt:lpstr>Arial</vt:lpstr>
      <vt:lpstr>Arial Unicode MS</vt:lpstr>
      <vt:lpstr>Calibri</vt:lpstr>
      <vt:lpstr>Calibri Light</vt:lpstr>
      <vt:lpstr>Courier New</vt:lpstr>
      <vt:lpstr>Symbol</vt:lpstr>
      <vt:lpstr>Times New Roman</vt:lpstr>
      <vt:lpstr>Office Theme</vt:lpstr>
      <vt:lpstr>BLoC Pattern-Business Logic Component</vt:lpstr>
      <vt:lpstr>Nội dung</vt:lpstr>
      <vt:lpstr>Phân công công việc</vt:lpstr>
      <vt:lpstr>Nội dung</vt:lpstr>
      <vt:lpstr>1.1. BLoC là gì? </vt:lpstr>
      <vt:lpstr>1.2. Tạo BLoC Class với Event và State  </vt:lpstr>
      <vt:lpstr>1.2. Tạo BLoC Class với Event và State  </vt:lpstr>
      <vt:lpstr>1.2. Tạo BLoC Class với Event và State  </vt:lpstr>
      <vt:lpstr>Nội dung</vt:lpstr>
      <vt:lpstr>2.1. BLoC builder  </vt:lpstr>
      <vt:lpstr>2.2. BLoC Listener</vt:lpstr>
      <vt:lpstr>Nội dung</vt:lpstr>
      <vt:lpstr>3.1. Event handling   </vt:lpstr>
      <vt:lpstr>3.2. State transitions</vt:lpstr>
      <vt:lpstr>3.3. UI Response</vt:lpstr>
      <vt:lpstr>Nội dung</vt:lpstr>
      <vt:lpstr>4.1. Mục đích</vt:lpstr>
      <vt:lpstr>4.2. Package bloc_test</vt:lpstr>
      <vt:lpstr>4.3. Cơ chế hoạt động  </vt:lpstr>
      <vt:lpstr>4.3. Cơ chế hoạt động  </vt:lpstr>
      <vt:lpstr>4.4. Demo bloc_test</vt:lpstr>
      <vt:lpstr>4.4. Demo bloc_test</vt:lpstr>
      <vt:lpstr>DEMO</vt:lpstr>
      <vt:lpstr>DEMO</vt:lpstr>
      <vt:lpstr>Tài liệu tham khảo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&lt;&lt;Tên chủ đề&gt;&gt;</dc:title>
  <dc:creator>ndnvien@dut.udn.vn</dc:creator>
  <cp:lastModifiedBy>Trịnh Minh Việt</cp:lastModifiedBy>
  <cp:revision>27</cp:revision>
  <dcterms:created xsi:type="dcterms:W3CDTF">2023-10-18T00:10:58Z</dcterms:created>
  <dcterms:modified xsi:type="dcterms:W3CDTF">2025-11-10T09:51:49Z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0x01010070F6614CC20C2341913E41528EE4FF97</vt:lpwstr>
  </property>
  <property fmtid="{D5CDD505-2E9C-101B-9397-08002B2CF9AE}" pid="3" name="MediaServiceImageTags">
    <vt:lpwstr/>
  </property>
</Properties>
</file>